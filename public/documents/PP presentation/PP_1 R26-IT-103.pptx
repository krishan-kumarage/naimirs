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Open Sauce Bold" charset="1" panose="00000800000000000000"/>
      <p:regular r:id="rId29"/>
    </p:embeddedFont>
    <p:embeddedFont>
      <p:font typeface="Poppins Bold" charset="1" panose="00000800000000000000"/>
      <p:regular r:id="rId30"/>
    </p:embeddedFont>
    <p:embeddedFont>
      <p:font typeface="Open Sauce" charset="1" panose="00000500000000000000"/>
      <p:regular r:id="rId31"/>
    </p:embeddedFont>
    <p:embeddedFont>
      <p:font typeface="Poppins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" Type="http://schemas.openxmlformats.org/officeDocument/2006/relationships/viewProps" Target="viewProps.xml"/><Relationship Id="rId34" Type="http://schemas.openxmlformats.org/officeDocument/2006/relationships/customXml" Target="../customXml/item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33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2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1.fntdata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30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5" Type="http://schemas.openxmlformats.org/officeDocument/2006/relationships/customXml" Target="../customXml/item3.xml"/><Relationship Id="rId8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9.png" Type="http://schemas.openxmlformats.org/officeDocument/2006/relationships/image"/><Relationship Id="rId7" Target="../media/image13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8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22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Relationship Id="rId7" Target="../media/image24.jpeg" Type="http://schemas.openxmlformats.org/officeDocument/2006/relationships/image"/><Relationship Id="rId8" Target="../media/image2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26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11.png" Type="http://schemas.openxmlformats.org/officeDocument/2006/relationships/image"/><Relationship Id="rId7" Target="../media/image2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1.png" Type="http://schemas.openxmlformats.org/officeDocument/2006/relationships/image"/><Relationship Id="rId6" Target="../media/image28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618" y="0"/>
            <a:ext cx="18414618" cy="10287000"/>
          </a:xfrm>
          <a:custGeom>
            <a:avLst/>
            <a:gdLst/>
            <a:ahLst/>
            <a:cxnLst/>
            <a:rect r="r" b="b" t="t" l="l"/>
            <a:pathLst>
              <a:path h="10287000" w="18414618">
                <a:moveTo>
                  <a:pt x="0" y="0"/>
                </a:moveTo>
                <a:lnTo>
                  <a:pt x="18414618" y="0"/>
                </a:lnTo>
                <a:lnTo>
                  <a:pt x="184146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7" t="-344" r="-142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9164871" y="130903"/>
            <a:ext cx="10156097" cy="10156097"/>
          </a:xfrm>
          <a:custGeom>
            <a:avLst/>
            <a:gdLst/>
            <a:ahLst/>
            <a:cxnLst/>
            <a:rect r="r" b="b" t="t" l="l"/>
            <a:pathLst>
              <a:path h="10156097" w="10156097">
                <a:moveTo>
                  <a:pt x="0" y="0"/>
                </a:moveTo>
                <a:lnTo>
                  <a:pt x="10156097" y="0"/>
                </a:lnTo>
                <a:lnTo>
                  <a:pt x="10156097" y="10156097"/>
                </a:lnTo>
                <a:lnTo>
                  <a:pt x="0" y="10156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991226" y="130903"/>
            <a:ext cx="10156097" cy="10156097"/>
          </a:xfrm>
          <a:custGeom>
            <a:avLst/>
            <a:gdLst/>
            <a:ahLst/>
            <a:cxnLst/>
            <a:rect r="r" b="b" t="t" l="l"/>
            <a:pathLst>
              <a:path h="10156097" w="10156097">
                <a:moveTo>
                  <a:pt x="0" y="0"/>
                </a:moveTo>
                <a:lnTo>
                  <a:pt x="10156097" y="0"/>
                </a:lnTo>
                <a:lnTo>
                  <a:pt x="10156097" y="10156097"/>
                </a:lnTo>
                <a:lnTo>
                  <a:pt x="0" y="10156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13902" y="5367818"/>
            <a:ext cx="11133579" cy="205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6"/>
              </a:lnSpc>
            </a:pPr>
            <a:r>
              <a:rPr lang="en-US" b="true" sz="3926" spc="565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PROFIT-DRIVEN SMART FARMING APP FOR SCOTCH BONNET PEPPERS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056186">
            <a:off x="-1593070" y="6155911"/>
            <a:ext cx="5731664" cy="6204778"/>
          </a:xfrm>
          <a:custGeom>
            <a:avLst/>
            <a:gdLst/>
            <a:ahLst/>
            <a:cxnLst/>
            <a:rect r="r" b="b" t="t" l="l"/>
            <a:pathLst>
              <a:path h="6204778" w="5731664">
                <a:moveTo>
                  <a:pt x="0" y="0"/>
                </a:moveTo>
                <a:lnTo>
                  <a:pt x="5731663" y="0"/>
                </a:lnTo>
                <a:lnTo>
                  <a:pt x="5731663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03857">
            <a:off x="14225045" y="-2131308"/>
            <a:ext cx="5963343" cy="6571177"/>
          </a:xfrm>
          <a:custGeom>
            <a:avLst/>
            <a:gdLst/>
            <a:ahLst/>
            <a:cxnLst/>
            <a:rect r="r" b="b" t="t" l="l"/>
            <a:pathLst>
              <a:path h="6571177" w="5963343">
                <a:moveTo>
                  <a:pt x="0" y="0"/>
                </a:moveTo>
                <a:lnTo>
                  <a:pt x="5963343" y="0"/>
                </a:lnTo>
                <a:lnTo>
                  <a:pt x="5963343" y="6571177"/>
                </a:lnTo>
                <a:lnTo>
                  <a:pt x="0" y="6571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45570" y="533429"/>
            <a:ext cx="10838601" cy="218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05"/>
              </a:lnSpc>
            </a:pPr>
            <a:r>
              <a:rPr lang="en-US" b="true" sz="120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NAIMIRIS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83836" y="348777"/>
            <a:ext cx="4008536" cy="67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3"/>
              </a:lnSpc>
            </a:pPr>
            <a:r>
              <a:rPr lang="en-US" b="true" sz="398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45570" y="8326734"/>
            <a:ext cx="1083860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PROGRESS PRESENTATION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2511" y="132374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40036" y="201241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43529" y="1457005"/>
            <a:ext cx="7237510" cy="723751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570" r="0" b="-4570"/>
              </a:stretch>
            </a:blipFill>
            <a:ln w="238125" cap="sq">
              <a:solidFill>
                <a:srgbClr val="0B5304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638417">
            <a:off x="10118036" y="7340046"/>
            <a:ext cx="5731664" cy="6204778"/>
          </a:xfrm>
          <a:custGeom>
            <a:avLst/>
            <a:gdLst/>
            <a:ahLst/>
            <a:cxnLst/>
            <a:rect r="r" b="b" t="t" l="l"/>
            <a:pathLst>
              <a:path h="6204778" w="5731664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68874">
            <a:off x="15463189" y="680745"/>
            <a:ext cx="2143915" cy="1124216"/>
          </a:xfrm>
          <a:custGeom>
            <a:avLst/>
            <a:gdLst/>
            <a:ahLst/>
            <a:cxnLst/>
            <a:rect r="r" b="b" t="t" l="l"/>
            <a:pathLst>
              <a:path h="1124216" w="2143915">
                <a:moveTo>
                  <a:pt x="0" y="0"/>
                </a:moveTo>
                <a:lnTo>
                  <a:pt x="2143915" y="0"/>
                </a:lnTo>
                <a:lnTo>
                  <a:pt x="2143915" y="1124215"/>
                </a:lnTo>
                <a:lnTo>
                  <a:pt x="0" y="1124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93338" y="1028700"/>
            <a:ext cx="1094662" cy="2178431"/>
          </a:xfrm>
          <a:custGeom>
            <a:avLst/>
            <a:gdLst/>
            <a:ahLst/>
            <a:cxnLst/>
            <a:rect r="r" b="b" t="t" l="l"/>
            <a:pathLst>
              <a:path h="2178431" w="1094662">
                <a:moveTo>
                  <a:pt x="0" y="0"/>
                </a:moveTo>
                <a:lnTo>
                  <a:pt x="1094662" y="0"/>
                </a:lnTo>
                <a:lnTo>
                  <a:pt x="1094662" y="2178431"/>
                </a:lnTo>
                <a:lnTo>
                  <a:pt x="0" y="2178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2511" y="1811164"/>
            <a:ext cx="10019623" cy="18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Title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- Naimiris: A Profit-Driven Smart Farming Model for Scotch Bonnet Peppers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7711" y="4361999"/>
            <a:ext cx="10019623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ID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- 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7711" y="5844089"/>
            <a:ext cx="10019623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Supervisor 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-  Ms Sadeepa Dushanthi Kuruppu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711" y="7949565"/>
            <a:ext cx="10019623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5"/>
              </a:lnSpc>
              <a:spcBef>
                <a:spcPct val="0"/>
              </a:spcBef>
            </a:pPr>
            <a:r>
              <a:rPr lang="en-US" b="true" sz="4500" spc="-175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Supervisor </a:t>
            </a:r>
            <a:r>
              <a:rPr lang="en-US" sz="4500" spc="-175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-  Ms Chathurangika Kahandawaarachchi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0245" y="30988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37875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74918">
            <a:off x="15190124" y="-1211274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08100">
            <a:off x="-1875736" y="8269764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824847">
            <a:off x="13537927" y="14302"/>
            <a:ext cx="1345346" cy="705466"/>
          </a:xfrm>
          <a:custGeom>
            <a:avLst/>
            <a:gdLst/>
            <a:ahLst/>
            <a:cxnLst/>
            <a:rect r="r" b="b" t="t" l="l"/>
            <a:pathLst>
              <a:path h="705466" w="1345346">
                <a:moveTo>
                  <a:pt x="0" y="0"/>
                </a:moveTo>
                <a:lnTo>
                  <a:pt x="1345346" y="0"/>
                </a:lnTo>
                <a:lnTo>
                  <a:pt x="1345346" y="705466"/>
                </a:lnTo>
                <a:lnTo>
                  <a:pt x="0" y="7054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016741">
            <a:off x="16518155" y="7719910"/>
            <a:ext cx="1154270" cy="2089176"/>
          </a:xfrm>
          <a:custGeom>
            <a:avLst/>
            <a:gdLst/>
            <a:ahLst/>
            <a:cxnLst/>
            <a:rect r="r" b="b" t="t" l="l"/>
            <a:pathLst>
              <a:path h="2089176" w="1154270">
                <a:moveTo>
                  <a:pt x="0" y="0"/>
                </a:moveTo>
                <a:lnTo>
                  <a:pt x="1154270" y="0"/>
                </a:lnTo>
                <a:lnTo>
                  <a:pt x="1154270" y="2089176"/>
                </a:lnTo>
                <a:lnTo>
                  <a:pt x="0" y="2089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88765" y="568932"/>
            <a:ext cx="11322132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0554" y="2202940"/>
            <a:ext cx="15102594" cy="640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64"/>
              </a:lnSpc>
            </a:pPr>
            <a:r>
              <a:rPr lang="en-US" sz="4045" spc="-157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Agriculture is a key sector in Sri Lanka, but many small-scale farmers still use traditional methods which lead to low profit and high risk. </a:t>
            </a:r>
            <a:r>
              <a:rPr lang="en-US" b="true" sz="4045" spc="-157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  <a:r>
              <a:rPr lang="en-US" sz="4045" spc="-157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is a smart farming app designed for wet zone farmers with less than 1 acre of land who want to earn better income from farming. The system provides highly accurate, crop-focused guidance for Scotch Bonnet pepper farming, delivering insights and strategies that are more precise and practical than common farming advice. </a:t>
            </a:r>
            <a:r>
              <a:rPr lang="en-US" b="true" sz="4045" spc="-157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  <a:r>
              <a:rPr lang="en-US" sz="4045" spc="-157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helps farmers reduce risk, increase yield, and turn farming into a profitable business.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946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3265" y="293701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4888750" y="7381361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190124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54090" y="2819861"/>
            <a:ext cx="7323765" cy="4647277"/>
          </a:xfrm>
          <a:custGeom>
            <a:avLst/>
            <a:gdLst/>
            <a:ahLst/>
            <a:cxnLst/>
            <a:rect r="r" b="b" t="t" l="l"/>
            <a:pathLst>
              <a:path h="4647277" w="7323765">
                <a:moveTo>
                  <a:pt x="0" y="0"/>
                </a:moveTo>
                <a:lnTo>
                  <a:pt x="7323765" y="0"/>
                </a:lnTo>
                <a:lnTo>
                  <a:pt x="7323765" y="4647278"/>
                </a:lnTo>
                <a:lnTo>
                  <a:pt x="0" y="4647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82" t="0" r="-678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8367" y="2362389"/>
            <a:ext cx="9714057" cy="792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55"/>
              </a:lnSpc>
            </a:pPr>
            <a:r>
              <a:rPr lang="en-US" b="true" sz="3324" spc="-129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</a:t>
            </a:r>
            <a:r>
              <a:rPr lang="en-US" b="true" sz="3324" spc="-129" strike="noStrike" u="none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sting Problems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Traditional farming focuses on production, not profit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Low income for small-scale farmers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Lack of accurate farming guidance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Dependence on middlemen and poor market access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Small land sizes limit profitability</a:t>
            </a:r>
          </a:p>
          <a:p>
            <a:pPr algn="just" marL="0" indent="0" lvl="0">
              <a:lnSpc>
                <a:spcPts val="4187"/>
              </a:lnSpc>
            </a:pPr>
          </a:p>
          <a:p>
            <a:pPr algn="just" marL="0" indent="0" lvl="0">
              <a:lnSpc>
                <a:spcPts val="4455"/>
              </a:lnSpc>
            </a:pPr>
            <a:r>
              <a:rPr lang="en-US" b="true" sz="3324" spc="-129" strike="noStrike" u="none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This is Important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Farmers work hard but earn low profit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Farming becomes high risk and unstable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•Farmers cannot treat farming as a profitable business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Young people avoid agriculture</a:t>
            </a:r>
          </a:p>
          <a:p>
            <a:pPr algn="just" marL="0" indent="0" lvl="0">
              <a:lnSpc>
                <a:spcPts val="4187"/>
              </a:lnSpc>
            </a:pPr>
            <a:r>
              <a:rPr lang="en-US" sz="3124" spc="-121" strike="noStrike" u="none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• Need for a smart, profit-focused farming system</a:t>
            </a:r>
          </a:p>
          <a:p>
            <a:pPr algn="just" marL="0" indent="0" lvl="0">
              <a:lnSpc>
                <a:spcPts val="4187"/>
              </a:lnSpc>
            </a:pPr>
          </a:p>
          <a:p>
            <a:pPr algn="just" marL="0" indent="0" lvl="0">
              <a:lnSpc>
                <a:spcPts val="41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22007"/>
            <a:ext cx="8593392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9"/>
              </a:lnSpc>
            </a:pPr>
            <a:r>
              <a:rPr lang="en-US" sz="79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331" y="216582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3265" y="27373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8174" y="7769629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29336" y="2116306"/>
            <a:ext cx="13029328" cy="7915317"/>
          </a:xfrm>
          <a:custGeom>
            <a:avLst/>
            <a:gdLst/>
            <a:ahLst/>
            <a:cxnLst/>
            <a:rect r="r" b="b" t="t" l="l"/>
            <a:pathLst>
              <a:path h="7915317" w="13029328">
                <a:moveTo>
                  <a:pt x="0" y="0"/>
                </a:moveTo>
                <a:lnTo>
                  <a:pt x="13029328" y="0"/>
                </a:lnTo>
                <a:lnTo>
                  <a:pt x="13029328" y="7915316"/>
                </a:lnTo>
                <a:lnTo>
                  <a:pt x="0" y="7915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54952" y="475629"/>
            <a:ext cx="11178095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315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374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4892" y="7810236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7733" y="0"/>
            <a:ext cx="5120267" cy="5778062"/>
          </a:xfrm>
          <a:custGeom>
            <a:avLst/>
            <a:gdLst/>
            <a:ahLst/>
            <a:cxnLst/>
            <a:rect r="r" b="b" t="t" l="l"/>
            <a:pathLst>
              <a:path h="5778062" w="5120267">
                <a:moveTo>
                  <a:pt x="0" y="0"/>
                </a:moveTo>
                <a:lnTo>
                  <a:pt x="5120267" y="0"/>
                </a:lnTo>
                <a:lnTo>
                  <a:pt x="5120267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526" r="0" b="-1652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4840" y="7357689"/>
            <a:ext cx="12891354" cy="11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IT22271464 - KUMARAGE K J B 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519" y="3323304"/>
            <a:ext cx="14305201" cy="228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PRE-ANALYSIS &amp; SMART</a:t>
            </a: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SUPPORT STAGE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7293" y="1670339"/>
            <a:ext cx="17031767" cy="796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2613" indent="-391306" lvl="1">
              <a:lnSpc>
                <a:spcPts val="5582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Farmers cultivating Nai Miris in Sri Lanka often make farming decisions based on experience rather than data analysis.</a:t>
            </a:r>
          </a:p>
          <a:p>
            <a:pPr algn="just" marL="782613" indent="-391306" lvl="1">
              <a:lnSpc>
                <a:spcPts val="5582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This can lead to financial risk, resource wastage, and unstable profits.</a:t>
            </a:r>
          </a:p>
          <a:p>
            <a:pPr algn="just" marL="782613" indent="-391306" lvl="1">
              <a:lnSpc>
                <a:spcPts val="5582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Existing farming systems do not properly combine land condition, budget, and environmental factors together.</a:t>
            </a:r>
          </a:p>
          <a:p>
            <a:pPr algn="just" marL="782613" indent="-391306" lvl="1">
              <a:lnSpc>
                <a:spcPts val="5582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This research introduces an AI-based smart decision support system to help farmers generate better cultivation plans and profit predictions.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b="true" sz="3624" spc="-141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sz="3624" spc="-14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To help farmers make data-driven, low-risk, and profit-oriented decisions for Nai Miris cultivation.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66285" y="197857"/>
            <a:ext cx="8142006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9"/>
              </a:lnSpc>
              <a:spcBef>
                <a:spcPct val="0"/>
              </a:spcBef>
            </a:pPr>
            <a:r>
              <a:rPr lang="en-US" b="true" sz="79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5728904" y="-2362168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384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38888" y="281985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6266834" y="7186366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578580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3" y="0"/>
                </a:lnTo>
                <a:lnTo>
                  <a:pt x="4138353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55286" y="2040627"/>
            <a:ext cx="14577427" cy="7051830"/>
          </a:xfrm>
          <a:custGeom>
            <a:avLst/>
            <a:gdLst/>
            <a:ahLst/>
            <a:cxnLst/>
            <a:rect r="r" b="b" t="t" l="l"/>
            <a:pathLst>
              <a:path h="7051830" w="14577427">
                <a:moveTo>
                  <a:pt x="0" y="0"/>
                </a:moveTo>
                <a:lnTo>
                  <a:pt x="14577428" y="0"/>
                </a:lnTo>
                <a:lnTo>
                  <a:pt x="14577428" y="7051831"/>
                </a:lnTo>
                <a:lnTo>
                  <a:pt x="0" y="7051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3660" y="505662"/>
            <a:ext cx="658068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4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30187" y="2193027"/>
            <a:ext cx="14577427" cy="7051830"/>
          </a:xfrm>
          <a:custGeom>
            <a:avLst/>
            <a:gdLst/>
            <a:ahLst/>
            <a:cxnLst/>
            <a:rect r="r" b="b" t="t" l="l"/>
            <a:pathLst>
              <a:path h="7051830" w="14577427">
                <a:moveTo>
                  <a:pt x="0" y="0"/>
                </a:moveTo>
                <a:lnTo>
                  <a:pt x="14577427" y="0"/>
                </a:lnTo>
                <a:lnTo>
                  <a:pt x="14577427" y="7051831"/>
                </a:lnTo>
                <a:lnTo>
                  <a:pt x="0" y="7051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97574" y="2372983"/>
            <a:ext cx="12015664" cy="704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AI</a:t>
            </a:r>
            <a:r>
              <a:rPr lang="en-US" b="true" sz="2824" spc="-110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Model (Land Analyzer)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land analysis model using TensorFlow 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Detects land types: Agriculture, Barren, Buildings, Roads, Water, Forest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Outputs land-cover percentage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Backend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backend logic for land suitability analysis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Calculates usable farming area from model output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Decision: Land is suitable or not for farming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Estimates Nai Miris plant count based on land size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Frontend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user interface for farmers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Image upload + land size input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Displays results: Land suitability  ,  Estimated plant count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3570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5280" y="4049870"/>
            <a:ext cx="2662967" cy="5757767"/>
          </a:xfrm>
          <a:custGeom>
            <a:avLst/>
            <a:gdLst/>
            <a:ahLst/>
            <a:cxnLst/>
            <a:rect r="r" b="b" t="t" l="l"/>
            <a:pathLst>
              <a:path h="5757767" w="2662967">
                <a:moveTo>
                  <a:pt x="0" y="0"/>
                </a:moveTo>
                <a:lnTo>
                  <a:pt x="2662967" y="0"/>
                </a:lnTo>
                <a:lnTo>
                  <a:pt x="2662967" y="5757768"/>
                </a:lnTo>
                <a:lnTo>
                  <a:pt x="0" y="5757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84662" y="4049870"/>
            <a:ext cx="2662967" cy="5757767"/>
          </a:xfrm>
          <a:custGeom>
            <a:avLst/>
            <a:gdLst/>
            <a:ahLst/>
            <a:cxnLst/>
            <a:rect r="r" b="b" t="t" l="l"/>
            <a:pathLst>
              <a:path h="5757767" w="2662967">
                <a:moveTo>
                  <a:pt x="0" y="0"/>
                </a:moveTo>
                <a:lnTo>
                  <a:pt x="2662968" y="0"/>
                </a:lnTo>
                <a:lnTo>
                  <a:pt x="2662968" y="5757768"/>
                </a:lnTo>
                <a:lnTo>
                  <a:pt x="0" y="57577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971934" y="1443355"/>
            <a:ext cx="6761326" cy="5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1"/>
              </a:lnSpc>
              <a:spcBef>
                <a:spcPct val="0"/>
              </a:spcBef>
            </a:pPr>
            <a:r>
              <a:rPr lang="en-US" b="true" sz="3377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LA</a:t>
            </a:r>
            <a:r>
              <a:rPr lang="en-US" b="true" sz="3377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ND ANALYZER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-2069176" y="7184642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3283" y="3100703"/>
            <a:ext cx="12693215" cy="397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897" indent="-304948" lvl="1">
              <a:lnSpc>
                <a:spcPts val="451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rove AI model accuracy</a:t>
            </a:r>
          </a:p>
          <a:p>
            <a:pPr algn="just" marL="609897" indent="-304948" lvl="1">
              <a:lnSpc>
                <a:spcPts val="4519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Reduce unknown area detection</a:t>
            </a:r>
          </a:p>
          <a:p>
            <a:pPr algn="just" marL="609897" indent="-304948" lvl="1">
              <a:lnSpc>
                <a:spcPts val="4519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 ROI calculation</a:t>
            </a:r>
          </a:p>
          <a:p>
            <a:pPr algn="just" marL="609897" indent="-304948" lvl="1">
              <a:lnSpc>
                <a:spcPts val="4519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Add cost &amp; profit prediction</a:t>
            </a:r>
          </a:p>
          <a:p>
            <a:pPr algn="just" marL="609897" indent="-304948" lvl="1">
              <a:lnSpc>
                <a:spcPts val="4519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Integrate weather and soil data</a:t>
            </a:r>
          </a:p>
          <a:p>
            <a:pPr algn="just" marL="609897" indent="-304948" lvl="1">
              <a:lnSpc>
                <a:spcPts val="4519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 full smart farming recommendation system</a:t>
            </a:r>
          </a:p>
          <a:p>
            <a:pPr algn="just" marL="0" indent="0" lvl="0">
              <a:lnSpc>
                <a:spcPts val="45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26350" y="2480740"/>
            <a:ext cx="7006931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5"/>
              </a:lnSpc>
              <a:spcBef>
                <a:spcPct val="0"/>
              </a:spcBef>
            </a:pPr>
            <a:r>
              <a:rPr lang="en-US" b="true" sz="35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3500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 STEPS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315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374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4892" y="7810236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79450" y="0"/>
            <a:ext cx="5814959" cy="6773245"/>
          </a:xfrm>
          <a:custGeom>
            <a:avLst/>
            <a:gdLst/>
            <a:ahLst/>
            <a:cxnLst/>
            <a:rect r="r" b="b" t="t" l="l"/>
            <a:pathLst>
              <a:path h="6773245" w="5814959">
                <a:moveTo>
                  <a:pt x="0" y="0"/>
                </a:moveTo>
                <a:lnTo>
                  <a:pt x="5814958" y="0"/>
                </a:lnTo>
                <a:lnTo>
                  <a:pt x="5814958" y="6773245"/>
                </a:lnTo>
                <a:lnTo>
                  <a:pt x="0" y="6773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89" r="0" b="-574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796" y="7143806"/>
            <a:ext cx="12891354" cy="11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IT22124630 - SAVINDA R.MD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796" y="1638996"/>
            <a:ext cx="14305201" cy="568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ECHNOLOGY-ASSISTED </a:t>
            </a:r>
          </a:p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A-TO-Z FARMING GUIDANCE STAGE </a:t>
            </a:r>
          </a:p>
          <a:p>
            <a:pPr algn="l">
              <a:lnSpc>
                <a:spcPts val="896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IT22124630 SAVINDA R M D  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5061" y="1692182"/>
            <a:ext cx="17057878" cy="892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Agricultu</a:t>
            </a: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re still relies on manual crop monitoring, making it difficult for farmers to detect growth and environmental problems early.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Modern technologies such as the Internet of Things (IoT) and Artificial Intelligence (AI) provide new opportunities for smart farming.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This research develops a technology-assisted farming guidance system for Scotch Bonnet pepper (Nai Miris) cultivation by integrating IoT environmental sensors with AI-based image analysis. 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By analyzing weekly crop images and real-time sensor data, the system identifies growth conditions and provides recommendations such as irrigation or fertilizer adjustments to improve crop productivity.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b="true" sz="3624" spc="-141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sz="3624" spc="-14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To develop an AI- and IoT-based smart farming system that monitors crop growth stages and environmental conditions to provide technology-assisted cultivation guidance for Nai Miris farming.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66285" y="197857"/>
            <a:ext cx="8142006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9"/>
              </a:lnSpc>
              <a:spcBef>
                <a:spcPct val="0"/>
              </a:spcBef>
            </a:pPr>
            <a:r>
              <a:rPr lang="en-US" b="true" sz="79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5728904" y="-2362168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384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38888" y="281985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6266834" y="7186366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578580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3" y="0"/>
                </a:lnTo>
                <a:lnTo>
                  <a:pt x="4138353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7794" y="1325447"/>
            <a:ext cx="13854088" cy="8038390"/>
          </a:xfrm>
          <a:custGeom>
            <a:avLst/>
            <a:gdLst/>
            <a:ahLst/>
            <a:cxnLst/>
            <a:rect r="r" b="b" t="t" l="l"/>
            <a:pathLst>
              <a:path h="8038390" w="13854088">
                <a:moveTo>
                  <a:pt x="0" y="0"/>
                </a:moveTo>
                <a:lnTo>
                  <a:pt x="13854088" y="0"/>
                </a:lnTo>
                <a:lnTo>
                  <a:pt x="13854088" y="8038390"/>
                </a:lnTo>
                <a:lnTo>
                  <a:pt x="0" y="80383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3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3660" y="505662"/>
            <a:ext cx="658068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4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IT22124630 SAVINDA R M D  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14353999" y="7567663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6190" y="1817970"/>
            <a:ext cx="16423110" cy="977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  <a:r>
              <a:rPr lang="en-US" b="true" sz="2824" spc="-110" u="sng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IoT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onnected environmental sensors with ESP32 / NodeMCU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Coll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ected realtime temperature, humidity, soil moisture, and EC data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Sent sensor data to Firebase Realtime Database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Enabled realtime monitoring and cloud data storage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 strike="noStrike" u="sng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backend logic for 5 Nai Miris growth stages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Processed realtime sensor values and analyzed crop conditions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Generated growth status, environmental alerts, and recommendations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stage-based monitoring system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 strike="noStrike" u="sng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Model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Trained AI model for Germination Stage detection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Integrated AI prediction with backend processing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Used growth data for stage identification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 strike="noStrike" u="sng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dashboard for farmers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Displayed realtime sensor readings and crop growth stages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Visualized alerts, notifications, and crop condition updates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Improved user understanding using graphical data representation</a:t>
            </a: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16895" y="3037318"/>
            <a:ext cx="2334591" cy="5047764"/>
          </a:xfrm>
          <a:custGeom>
            <a:avLst/>
            <a:gdLst/>
            <a:ahLst/>
            <a:cxnLst/>
            <a:rect r="r" b="b" t="t" l="l"/>
            <a:pathLst>
              <a:path h="5047764" w="2334591">
                <a:moveTo>
                  <a:pt x="0" y="0"/>
                </a:moveTo>
                <a:lnTo>
                  <a:pt x="2334591" y="0"/>
                </a:lnTo>
                <a:lnTo>
                  <a:pt x="2334591" y="5047765"/>
                </a:lnTo>
                <a:lnTo>
                  <a:pt x="0" y="5047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20795" y="2901526"/>
            <a:ext cx="2397395" cy="5183556"/>
          </a:xfrm>
          <a:custGeom>
            <a:avLst/>
            <a:gdLst/>
            <a:ahLst/>
            <a:cxnLst/>
            <a:rect r="r" b="b" t="t" l="l"/>
            <a:pathLst>
              <a:path h="5183556" w="2397395">
                <a:moveTo>
                  <a:pt x="0" y="0"/>
                </a:moveTo>
                <a:lnTo>
                  <a:pt x="2397395" y="0"/>
                </a:lnTo>
                <a:lnTo>
                  <a:pt x="2397395" y="5183557"/>
                </a:lnTo>
                <a:lnTo>
                  <a:pt x="0" y="51835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3801" y="1516599"/>
            <a:ext cx="7006931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36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IOT &amp; IMAGE 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-2069176" y="7184642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7789" y="3246661"/>
            <a:ext cx="16423110" cy="704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b="true" sz="2824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mprove</a:t>
            </a:r>
            <a:r>
              <a:rPr lang="en-US" b="true" sz="2824" spc="-110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Crop Growth Stage Classification Accuracy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Increase Nai Miris growth-stage image dataset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Train AI model using different plant growth conditions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Improve weekly stage prediction accuracy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Optimize CNN / YOLO model performance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b="true" sz="2824" spc="-110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Integrate  Growth Analysis with Sensor Data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Combine crop image analysis with environmental data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Validate whether crop growth matches environmental conditions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Improve growth-stage prediction reliability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824" spc="-110" strike="noStrike" u="none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Improve Mobile Dashboard Features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Real-time sensor monitoring dashboard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Weekly crop growth tracking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AI analysis results visualization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Alert and notification system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598" y="2347229"/>
            <a:ext cx="4776425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5"/>
              </a:lnSpc>
              <a:spcBef>
                <a:spcPct val="0"/>
              </a:spcBef>
            </a:pPr>
            <a:r>
              <a:rPr lang="en-US" b="true" sz="35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3500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 STEPS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315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374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04892" y="7810236"/>
            <a:ext cx="4179033" cy="4523987"/>
          </a:xfrm>
          <a:custGeom>
            <a:avLst/>
            <a:gdLst/>
            <a:ahLst/>
            <a:cxnLst/>
            <a:rect r="r" b="b" t="t" l="l"/>
            <a:pathLst>
              <a:path h="4523987" w="4179033">
                <a:moveTo>
                  <a:pt x="0" y="0"/>
                </a:moveTo>
                <a:lnTo>
                  <a:pt x="4179033" y="0"/>
                </a:lnTo>
                <a:lnTo>
                  <a:pt x="4179033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33369" y="0"/>
            <a:ext cx="5554631" cy="6839326"/>
          </a:xfrm>
          <a:custGeom>
            <a:avLst/>
            <a:gdLst/>
            <a:ahLst/>
            <a:cxnLst/>
            <a:rect r="r" b="b" t="t" l="l"/>
            <a:pathLst>
              <a:path h="6839326" w="5554631">
                <a:moveTo>
                  <a:pt x="0" y="0"/>
                </a:moveTo>
                <a:lnTo>
                  <a:pt x="5554631" y="0"/>
                </a:lnTo>
                <a:lnTo>
                  <a:pt x="5554631" y="6839326"/>
                </a:lnTo>
                <a:lnTo>
                  <a:pt x="0" y="6839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889" r="-1856" b="-3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923" y="3389967"/>
            <a:ext cx="12891354" cy="228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AI-DRIVEN PEST MONITORING AND CONTROL SYSTEM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923" y="6658351"/>
            <a:ext cx="14305201" cy="11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6400">
                <a:solidFill>
                  <a:srgbClr val="0B5304"/>
                </a:solidFill>
                <a:latin typeface="Poppins"/>
                <a:ea typeface="Poppins"/>
                <a:cs typeface="Poppins"/>
                <a:sym typeface="Poppins"/>
              </a:rPr>
              <a:t>IT22212740 - GUNAWARDANA T.D.A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IT22212740 GUNAWARDANA T D A  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873" y="30901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8932" y="37788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5061" y="1692182"/>
            <a:ext cx="17057878" cy="744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Pest attacks are a major challenge in Scotch Bonnet pepper (Nai Miris) cultivation in the Sri Lankan wet zone. 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Traditional monitoring is manual and often delayed, causing crop loss.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This research proposes an AI-based pest monitoring system that detects pests from leaf images, assesses severity, provides accurate pesticide recommendations, and reduces chemical overuse.</a:t>
            </a:r>
          </a:p>
          <a:p>
            <a:pPr algn="l" marL="782613" indent="-391306" lvl="1">
              <a:lnSpc>
                <a:spcPts val="3951"/>
              </a:lnSpc>
              <a:buFont typeface="Arial"/>
              <a:buChar char="•"/>
            </a:pPr>
            <a:r>
              <a:rPr lang="en-US" sz="3624" spc="-141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It helps farmers make timely, data-driven decisions and improve yield.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b="true" sz="3624" spc="-141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  <a:r>
              <a:rPr lang="en-US" sz="3624" spc="-141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Develop an AI-based pest monitoring system for Scotch Bonnet pepper (Nai Miris) that detects pests, evaluates infestation severity, and provides precise treatment recommendations.</a:t>
            </a:r>
          </a:p>
          <a:p>
            <a:pPr algn="just" marL="0" indent="0" lvl="0">
              <a:lnSpc>
                <a:spcPts val="395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66285" y="197857"/>
            <a:ext cx="8142006" cy="12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19"/>
              </a:lnSpc>
              <a:spcBef>
                <a:spcPct val="0"/>
              </a:spcBef>
            </a:pPr>
            <a:r>
              <a:rPr lang="en-US" b="true" sz="79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5728904" y="-2362168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IT22212740 GUNAWARDANA T D A  R26-IT-103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3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384" y="224835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38888" y="281985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3039">
            <a:off x="16266834" y="7186366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873294">
            <a:off x="15578580" y="-1737978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3" y="0"/>
                </a:lnTo>
                <a:lnTo>
                  <a:pt x="4138353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55164" y="2242698"/>
            <a:ext cx="12960716" cy="6208261"/>
          </a:xfrm>
          <a:custGeom>
            <a:avLst/>
            <a:gdLst/>
            <a:ahLst/>
            <a:cxnLst/>
            <a:rect r="r" b="b" t="t" l="l"/>
            <a:pathLst>
              <a:path h="6208261" w="12960716">
                <a:moveTo>
                  <a:pt x="0" y="0"/>
                </a:moveTo>
                <a:lnTo>
                  <a:pt x="12960715" y="0"/>
                </a:lnTo>
                <a:lnTo>
                  <a:pt x="12960715" y="6208261"/>
                </a:lnTo>
                <a:lnTo>
                  <a:pt x="0" y="620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" t="-506" r="0" b="-9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3660" y="505662"/>
            <a:ext cx="658068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5499" b="true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IT22212740 GUNAWARDANA T D A  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7762" y="1527221"/>
            <a:ext cx="16423110" cy="743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1. AI Model Development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(Pest Detection)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pest and disease detection model using YOLOv8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Model currently detects:</a:t>
            </a:r>
          </a:p>
          <a:p>
            <a:pPr algn="l" marL="1219794" indent="-406598" lvl="2">
              <a:lnSpc>
                <a:spcPts val="3079"/>
              </a:lnSpc>
              <a:buFont typeface="Arial"/>
              <a:buChar char="⚬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Healthy Leaf</a:t>
            </a:r>
          </a:p>
          <a:p>
            <a:pPr algn="l" marL="1219794" indent="-406598" lvl="2">
              <a:lnSpc>
                <a:spcPts val="3079"/>
              </a:lnSpc>
              <a:buFont typeface="Arial"/>
              <a:buChar char="⚬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Thrips Damage</a:t>
            </a:r>
          </a:p>
          <a:p>
            <a:pPr algn="l" marL="1219794" indent="-406598" lvl="2">
              <a:lnSpc>
                <a:spcPts val="3079"/>
              </a:lnSpc>
              <a:buFont typeface="Arial"/>
              <a:buChar char="⚬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Leaf Spot Disease</a:t>
            </a:r>
          </a:p>
          <a:p>
            <a:pPr algn="l" marL="1219794" indent="-406598" lvl="2">
              <a:lnSpc>
                <a:spcPts val="3079"/>
              </a:lnSpc>
              <a:buFont typeface="Arial"/>
              <a:buChar char="⚬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Yellow Virus Disease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Generates disease prediction with confidence score and detection area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2. Backend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Implemented backend logic for AI prediction system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Processes uploaded leaf images and returns disease detection results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Integrated trained YOLOv8 model with prediction workflow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3. Frontend Development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Developed user-friendly interface for image upload and prediction display</a:t>
            </a:r>
          </a:p>
          <a:p>
            <a:pPr algn="just" marL="609897" indent="-304948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Displays: Original image , Disease name , Confidence percentage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4465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14344" y="2049886"/>
            <a:ext cx="3266528" cy="7062762"/>
          </a:xfrm>
          <a:custGeom>
            <a:avLst/>
            <a:gdLst/>
            <a:ahLst/>
            <a:cxnLst/>
            <a:rect r="r" b="b" t="t" l="l"/>
            <a:pathLst>
              <a:path h="7062762" w="3266528">
                <a:moveTo>
                  <a:pt x="0" y="0"/>
                </a:moveTo>
                <a:lnTo>
                  <a:pt x="3266528" y="0"/>
                </a:lnTo>
                <a:lnTo>
                  <a:pt x="3266528" y="7062763"/>
                </a:lnTo>
                <a:lnTo>
                  <a:pt x="0" y="7062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01" y="15192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4744" y="220787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58447">
            <a:off x="-2069176" y="7184642"/>
            <a:ext cx="4138352" cy="4479948"/>
          </a:xfrm>
          <a:custGeom>
            <a:avLst/>
            <a:gdLst/>
            <a:ahLst/>
            <a:cxnLst/>
            <a:rect r="r" b="b" t="t" l="l"/>
            <a:pathLst>
              <a:path h="4479948" w="4138352">
                <a:moveTo>
                  <a:pt x="0" y="0"/>
                </a:moveTo>
                <a:lnTo>
                  <a:pt x="4138352" y="0"/>
                </a:lnTo>
                <a:lnTo>
                  <a:pt x="4138352" y="4479949"/>
                </a:lnTo>
                <a:lnTo>
                  <a:pt x="0" y="44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23570"/>
            <a:ext cx="16230600" cy="8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4"/>
              </a:lnSpc>
              <a:spcBef>
                <a:spcPct val="0"/>
              </a:spcBef>
            </a:pPr>
            <a:r>
              <a:rPr lang="en-US" b="true" sz="5499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299228">
            <a:off x="16412264" y="-2067739"/>
            <a:ext cx="3751473" cy="4993641"/>
          </a:xfrm>
          <a:custGeom>
            <a:avLst/>
            <a:gdLst/>
            <a:ahLst/>
            <a:cxnLst/>
            <a:rect r="r" b="b" t="t" l="l"/>
            <a:pathLst>
              <a:path h="4993641" w="3751473">
                <a:moveTo>
                  <a:pt x="0" y="0"/>
                </a:moveTo>
                <a:lnTo>
                  <a:pt x="3751472" y="0"/>
                </a:lnTo>
                <a:lnTo>
                  <a:pt x="3751472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787159" y="1980057"/>
            <a:ext cx="7006931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5"/>
              </a:lnSpc>
              <a:spcBef>
                <a:spcPct val="0"/>
              </a:spcBef>
            </a:pPr>
            <a:r>
              <a:rPr lang="en-US" b="true" sz="350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3500" strike="noStrike" u="non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T STEPS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41502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8" y="0"/>
                </a:lnTo>
                <a:lnTo>
                  <a:pt x="2278158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19660" y="9947039"/>
            <a:ext cx="6090355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IT2271464 KUMARAGE K J B HR26-IT-103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2230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4890" y="2646898"/>
            <a:ext cx="16423110" cy="686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897" indent="-304948" lvl="1">
              <a:lnSpc>
                <a:spcPts val="4971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rove AI model accuracy</a:t>
            </a:r>
          </a:p>
          <a:p>
            <a:pPr algn="just" marL="609897" indent="-304948" lvl="1">
              <a:lnSpc>
                <a:spcPts val="4971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Add more pest and disease classes</a:t>
            </a:r>
          </a:p>
          <a:p>
            <a:pPr algn="just" marL="609897" indent="-304948" lvl="1">
              <a:lnSpc>
                <a:spcPts val="4971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Add disease recovery and treatment suggestions</a:t>
            </a:r>
          </a:p>
          <a:p>
            <a:pPr algn="just" marL="609897" indent="-304948" lvl="1">
              <a:lnSpc>
                <a:spcPts val="4971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Improve real-time detection performance</a:t>
            </a:r>
          </a:p>
          <a:p>
            <a:pPr algn="just" marL="609897" indent="-304948" lvl="1">
              <a:lnSpc>
                <a:spcPts val="4971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 mobile-friendly application</a:t>
            </a:r>
          </a:p>
          <a:p>
            <a:pPr algn="just" marL="609897" indent="-304948" lvl="1">
              <a:lnSpc>
                <a:spcPts val="4971"/>
              </a:lnSpc>
              <a:buFont typeface="Arial"/>
              <a:buChar char="•"/>
            </a:pP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Build complete smart pest monitoring system</a:t>
            </a:r>
          </a:p>
          <a:p>
            <a:pPr algn="just" marL="0" indent="0" lvl="0">
              <a:lnSpc>
                <a:spcPts val="4971"/>
              </a:lnSpc>
            </a:pPr>
          </a:p>
          <a:p>
            <a:pPr algn="just" marL="0" indent="0" lvl="0">
              <a:lnSpc>
                <a:spcPts val="4971"/>
              </a:lnSpc>
            </a:pPr>
          </a:p>
          <a:p>
            <a:pPr algn="just" marL="0" indent="0" lvl="0">
              <a:lnSpc>
                <a:spcPts val="4971"/>
              </a:lnSpc>
            </a:pPr>
          </a:p>
          <a:p>
            <a:pPr algn="just" marL="0" indent="0" lvl="0">
              <a:lnSpc>
                <a:spcPts val="4971"/>
              </a:lnSpc>
            </a:pPr>
          </a:p>
          <a:p>
            <a:pPr algn="just" marL="0" indent="0" lvl="0">
              <a:lnSpc>
                <a:spcPts val="4971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331" y="216582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NAIMIRIS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3265" y="273732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309026">
            <a:off x="15168562" y="-3403927"/>
            <a:ext cx="4181477" cy="5566026"/>
          </a:xfrm>
          <a:custGeom>
            <a:avLst/>
            <a:gdLst/>
            <a:ahLst/>
            <a:cxnLst/>
            <a:rect r="r" b="b" t="t" l="l"/>
            <a:pathLst>
              <a:path h="5566026" w="4181477">
                <a:moveTo>
                  <a:pt x="0" y="0"/>
                </a:moveTo>
                <a:lnTo>
                  <a:pt x="4181476" y="0"/>
                </a:lnTo>
                <a:lnTo>
                  <a:pt x="4181476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81483" y="1534001"/>
            <a:ext cx="8925034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COMMERCIALIZATION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55949"/>
            <a:ext cx="16423110" cy="3004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58"/>
              </a:lnSpc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The Smart</a:t>
            </a:r>
            <a:r>
              <a:rPr lang="en-US" sz="2824" spc="-110" strike="noStrike" u="none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Farming Decision Support System will be offered as a subscription-based platform for farmers and agricultural businesses. Users can access AI-powered farming recommendations, monitoring, and analysis through monthly or yearly plans. The system can also integrate with IoT sensors to collect real-time farming data and improve decision-making. Revenue will be generated through subscriptions, premium services, and agricultural partnerships.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F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927" y="316810"/>
            <a:ext cx="5005012" cy="49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b="true" sz="2926" spc="421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NAIMRIS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0885" y="373960"/>
            <a:ext cx="883708" cy="428305"/>
          </a:xfrm>
          <a:custGeom>
            <a:avLst/>
            <a:gdLst/>
            <a:ahLst/>
            <a:cxnLst/>
            <a:rect r="r" b="b" t="t" l="l"/>
            <a:pathLst>
              <a:path h="428305" w="883708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38417">
            <a:off x="-3489788" y="6155911"/>
            <a:ext cx="5731664" cy="6204778"/>
          </a:xfrm>
          <a:custGeom>
            <a:avLst/>
            <a:gdLst/>
            <a:ahLst/>
            <a:cxnLst/>
            <a:rect r="r" b="b" t="t" l="l"/>
            <a:pathLst>
              <a:path h="6204778" w="5731664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68874">
            <a:off x="14735822" y="714609"/>
            <a:ext cx="2143915" cy="1124216"/>
          </a:xfrm>
          <a:custGeom>
            <a:avLst/>
            <a:gdLst/>
            <a:ahLst/>
            <a:cxnLst/>
            <a:rect r="r" b="b" t="t" l="l"/>
            <a:pathLst>
              <a:path h="1124216" w="2143915">
                <a:moveTo>
                  <a:pt x="0" y="0"/>
                </a:moveTo>
                <a:lnTo>
                  <a:pt x="2143915" y="0"/>
                </a:lnTo>
                <a:lnTo>
                  <a:pt x="2143915" y="1124216"/>
                </a:lnTo>
                <a:lnTo>
                  <a:pt x="0" y="112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47340" y="438106"/>
            <a:ext cx="1094662" cy="2178431"/>
          </a:xfrm>
          <a:custGeom>
            <a:avLst/>
            <a:gdLst/>
            <a:ahLst/>
            <a:cxnLst/>
            <a:rect r="r" b="b" t="t" l="l"/>
            <a:pathLst>
              <a:path h="2178431" w="1094662">
                <a:moveTo>
                  <a:pt x="0" y="0"/>
                </a:moveTo>
                <a:lnTo>
                  <a:pt x="1094662" y="0"/>
                </a:lnTo>
                <a:lnTo>
                  <a:pt x="1094662" y="2178431"/>
                </a:lnTo>
                <a:lnTo>
                  <a:pt x="0" y="2178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191" y="9807638"/>
            <a:ext cx="2278158" cy="479362"/>
          </a:xfrm>
          <a:custGeom>
            <a:avLst/>
            <a:gdLst/>
            <a:ahLst/>
            <a:cxnLst/>
            <a:rect r="r" b="b" t="t" l="l"/>
            <a:pathLst>
              <a:path h="479362" w="2278158">
                <a:moveTo>
                  <a:pt x="0" y="0"/>
                </a:moveTo>
                <a:lnTo>
                  <a:pt x="2278159" y="0"/>
                </a:lnTo>
                <a:lnTo>
                  <a:pt x="2278159" y="479362"/>
                </a:lnTo>
                <a:lnTo>
                  <a:pt x="0" y="479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67396" y="1805602"/>
            <a:ext cx="11827872" cy="7452698"/>
          </a:xfrm>
          <a:custGeom>
            <a:avLst/>
            <a:gdLst/>
            <a:ahLst/>
            <a:cxnLst/>
            <a:rect r="r" b="b" t="t" l="l"/>
            <a:pathLst>
              <a:path h="7452698" w="11827872">
                <a:moveTo>
                  <a:pt x="0" y="0"/>
                </a:moveTo>
                <a:lnTo>
                  <a:pt x="11827872" y="0"/>
                </a:lnTo>
                <a:lnTo>
                  <a:pt x="11827872" y="7452698"/>
                </a:lnTo>
                <a:lnTo>
                  <a:pt x="0" y="74526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9" t="-6221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0291" y="543071"/>
            <a:ext cx="11567418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WORK BREAKDOWN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9198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R26-IT-103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45541" y="9947039"/>
            <a:ext cx="2004268" cy="33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199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37" r="0" b="-161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4227" y="4237576"/>
            <a:ext cx="13679546" cy="224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2"/>
              </a:lnSpc>
            </a:pPr>
            <a:r>
              <a:rPr lang="en-US" b="true" sz="14873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511338">
            <a:off x="-1350763" y="6881922"/>
            <a:ext cx="5726213" cy="4752757"/>
          </a:xfrm>
          <a:custGeom>
            <a:avLst/>
            <a:gdLst/>
            <a:ahLst/>
            <a:cxnLst/>
            <a:rect r="r" b="b" t="t" l="l"/>
            <a:pathLst>
              <a:path h="4752757" w="5726213">
                <a:moveTo>
                  <a:pt x="0" y="0"/>
                </a:moveTo>
                <a:lnTo>
                  <a:pt x="5726213" y="0"/>
                </a:lnTo>
                <a:lnTo>
                  <a:pt x="5726213" y="4752756"/>
                </a:lnTo>
                <a:lnTo>
                  <a:pt x="0" y="4752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172651">
            <a:off x="14370900" y="-1285019"/>
            <a:ext cx="5226996" cy="5759775"/>
          </a:xfrm>
          <a:custGeom>
            <a:avLst/>
            <a:gdLst/>
            <a:ahLst/>
            <a:cxnLst/>
            <a:rect r="r" b="b" t="t" l="l"/>
            <a:pathLst>
              <a:path h="5759775" w="5226996">
                <a:moveTo>
                  <a:pt x="0" y="0"/>
                </a:moveTo>
                <a:lnTo>
                  <a:pt x="5226996" y="0"/>
                </a:lnTo>
                <a:lnTo>
                  <a:pt x="5226996" y="5759776"/>
                </a:lnTo>
                <a:lnTo>
                  <a:pt x="0" y="5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4344FB2-57F7-4CC5-88B0-881F5E0A90A3}"/>
</file>

<file path=customXml/itemProps2.xml><?xml version="1.0" encoding="utf-8"?>
<ds:datastoreItem xmlns:ds="http://schemas.openxmlformats.org/officeDocument/2006/customXml" ds:itemID="{660D7C2F-CFA6-4F54-B8FE-6FB5E2D92F76}"/>
</file>

<file path=customXml/itemProps3.xml><?xml version="1.0" encoding="utf-8"?>
<ds:datastoreItem xmlns:ds="http://schemas.openxmlformats.org/officeDocument/2006/customXml" ds:itemID="{DB3EE66C-520F-48CB-8ECF-708384B236A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Green Gradient Agriculture Report Presentation</dc:title>
  <cp:revision>1</cp:revision>
  <dcterms:created xsi:type="dcterms:W3CDTF">2006-08-16T00:00:00Z</dcterms:created>
  <dcterms:modified xsi:type="dcterms:W3CDTF">2011-08-01T06:04:30Z</dcterms:modified>
  <dc:identifier>DAHJQ_9344I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