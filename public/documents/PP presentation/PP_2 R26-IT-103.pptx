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Open Sauce Bold" charset="1" panose="00000800000000000000"/>
      <p:regular r:id="rId32"/>
    </p:embeddedFont>
    <p:embeddedFont>
      <p:font typeface="Poppins Bold" charset="1" panose="00000800000000000000"/>
      <p:regular r:id="rId33"/>
    </p:embeddedFont>
    <p:embeddedFont>
      <p:font typeface="Open Sauce" charset="1" panose="00000500000000000000"/>
      <p:regular r:id="rId34"/>
    </p:embeddedFont>
    <p:embeddedFont>
      <p:font typeface="Poppins" charset="1" panose="000005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font" Target="fonts/font34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33.fntdata"/><Relationship Id="rId7" Type="http://schemas.openxmlformats.org/officeDocument/2006/relationships/slide" Target="slides/slide2.xml"/><Relationship Id="rId38" Type="http://schemas.openxmlformats.org/officeDocument/2006/relationships/customXml" Target="../customXml/item3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32.fntdata"/><Relationship Id="rId6" Type="http://schemas.openxmlformats.org/officeDocument/2006/relationships/slide" Target="slides/slide1.xml"/><Relationship Id="rId37" Type="http://schemas.openxmlformats.org/officeDocument/2006/relationships/customXml" Target="../customXml/item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" Type="http://schemas.openxmlformats.org/officeDocument/2006/relationships/tableStyles" Target="tableStyles.xml"/><Relationship Id="rId36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35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3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9.png" Type="http://schemas.openxmlformats.org/officeDocument/2006/relationships/image"/><Relationship Id="rId7" Target="../media/image13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6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Relationship Id="rId7" Target="../media/image1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20.jpe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22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pn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618" y="0"/>
            <a:ext cx="18414618" cy="10287000"/>
          </a:xfrm>
          <a:custGeom>
            <a:avLst/>
            <a:gdLst/>
            <a:ahLst/>
            <a:cxnLst/>
            <a:rect r="r" b="b" t="t" l="l"/>
            <a:pathLst>
              <a:path h="10287000" w="18414618">
                <a:moveTo>
                  <a:pt x="0" y="0"/>
                </a:moveTo>
                <a:lnTo>
                  <a:pt x="18414618" y="0"/>
                </a:lnTo>
                <a:lnTo>
                  <a:pt x="184146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7" t="-344" r="-1427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5400000">
            <a:off x="9164871" y="130903"/>
            <a:ext cx="10156097" cy="10156097"/>
          </a:xfrm>
          <a:custGeom>
            <a:avLst/>
            <a:gdLst/>
            <a:ahLst/>
            <a:cxnLst/>
            <a:rect r="r" b="b" t="t" l="l"/>
            <a:pathLst>
              <a:path h="10156097" w="10156097">
                <a:moveTo>
                  <a:pt x="0" y="0"/>
                </a:moveTo>
                <a:lnTo>
                  <a:pt x="10156097" y="0"/>
                </a:lnTo>
                <a:lnTo>
                  <a:pt x="10156097" y="10156097"/>
                </a:lnTo>
                <a:lnTo>
                  <a:pt x="0" y="10156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991226" y="130903"/>
            <a:ext cx="10156097" cy="10156097"/>
          </a:xfrm>
          <a:custGeom>
            <a:avLst/>
            <a:gdLst/>
            <a:ahLst/>
            <a:cxnLst/>
            <a:rect r="r" b="b" t="t" l="l"/>
            <a:pathLst>
              <a:path h="10156097" w="10156097">
                <a:moveTo>
                  <a:pt x="0" y="0"/>
                </a:moveTo>
                <a:lnTo>
                  <a:pt x="10156097" y="0"/>
                </a:lnTo>
                <a:lnTo>
                  <a:pt x="10156097" y="10156097"/>
                </a:lnTo>
                <a:lnTo>
                  <a:pt x="0" y="10156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13902" y="5367818"/>
            <a:ext cx="11133579" cy="205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6"/>
              </a:lnSpc>
            </a:pPr>
            <a:r>
              <a:rPr lang="en-US" b="true" sz="3926" spc="565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PROFIT-DRIVEN SMART FARMING APP FOR SCOTCH BONNET PEPPERS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056186">
            <a:off x="-1593070" y="6155911"/>
            <a:ext cx="5731664" cy="6204778"/>
          </a:xfrm>
          <a:custGeom>
            <a:avLst/>
            <a:gdLst/>
            <a:ahLst/>
            <a:cxnLst/>
            <a:rect r="r" b="b" t="t" l="l"/>
            <a:pathLst>
              <a:path h="6204778" w="5731664">
                <a:moveTo>
                  <a:pt x="0" y="0"/>
                </a:moveTo>
                <a:lnTo>
                  <a:pt x="5731663" y="0"/>
                </a:lnTo>
                <a:lnTo>
                  <a:pt x="5731663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03857">
            <a:off x="14225045" y="-2131308"/>
            <a:ext cx="5963343" cy="6571177"/>
          </a:xfrm>
          <a:custGeom>
            <a:avLst/>
            <a:gdLst/>
            <a:ahLst/>
            <a:cxnLst/>
            <a:rect r="r" b="b" t="t" l="l"/>
            <a:pathLst>
              <a:path h="6571177" w="5963343">
                <a:moveTo>
                  <a:pt x="0" y="0"/>
                </a:moveTo>
                <a:lnTo>
                  <a:pt x="5963343" y="0"/>
                </a:lnTo>
                <a:lnTo>
                  <a:pt x="5963343" y="6571177"/>
                </a:lnTo>
                <a:lnTo>
                  <a:pt x="0" y="6571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45570" y="533429"/>
            <a:ext cx="10838601" cy="218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05"/>
              </a:lnSpc>
            </a:pPr>
            <a:r>
              <a:rPr lang="en-US" b="true" sz="120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NAIMIRIS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83836" y="348777"/>
            <a:ext cx="4008536" cy="67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3"/>
              </a:lnSpc>
            </a:pPr>
            <a:r>
              <a:rPr lang="en-US" b="true" sz="398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45570" y="8326734"/>
            <a:ext cx="1083860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 PRESENTATION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2511" y="132374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40036" y="201241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43529" y="1457005"/>
            <a:ext cx="7237510" cy="723751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570" r="0" b="-4570"/>
              </a:stretch>
            </a:blipFill>
            <a:ln w="238125" cap="sq">
              <a:solidFill>
                <a:srgbClr val="0B530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638417">
            <a:off x="10118036" y="7340046"/>
            <a:ext cx="5731664" cy="6204778"/>
          </a:xfrm>
          <a:custGeom>
            <a:avLst/>
            <a:gdLst/>
            <a:ahLst/>
            <a:cxnLst/>
            <a:rect r="r" b="b" t="t" l="l"/>
            <a:pathLst>
              <a:path h="6204778" w="5731664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68874">
            <a:off x="15463189" y="680745"/>
            <a:ext cx="2143915" cy="1124216"/>
          </a:xfrm>
          <a:custGeom>
            <a:avLst/>
            <a:gdLst/>
            <a:ahLst/>
            <a:cxnLst/>
            <a:rect r="r" b="b" t="t" l="l"/>
            <a:pathLst>
              <a:path h="1124216" w="2143915">
                <a:moveTo>
                  <a:pt x="0" y="0"/>
                </a:moveTo>
                <a:lnTo>
                  <a:pt x="2143915" y="0"/>
                </a:lnTo>
                <a:lnTo>
                  <a:pt x="2143915" y="1124215"/>
                </a:lnTo>
                <a:lnTo>
                  <a:pt x="0" y="1124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93338" y="1028700"/>
            <a:ext cx="1094662" cy="2178431"/>
          </a:xfrm>
          <a:custGeom>
            <a:avLst/>
            <a:gdLst/>
            <a:ahLst/>
            <a:cxnLst/>
            <a:rect r="r" b="b" t="t" l="l"/>
            <a:pathLst>
              <a:path h="2178431" w="1094662">
                <a:moveTo>
                  <a:pt x="0" y="0"/>
                </a:moveTo>
                <a:lnTo>
                  <a:pt x="1094662" y="0"/>
                </a:lnTo>
                <a:lnTo>
                  <a:pt x="1094662" y="2178431"/>
                </a:lnTo>
                <a:lnTo>
                  <a:pt x="0" y="2178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2511" y="1811164"/>
            <a:ext cx="10019623" cy="187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5"/>
              </a:lnSpc>
              <a:spcBef>
                <a:spcPct val="0"/>
              </a:spcBef>
            </a:pPr>
            <a:r>
              <a:rPr lang="en-US" b="true" sz="4500" spc="-175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Title</a:t>
            </a:r>
            <a:r>
              <a:rPr lang="en-US" sz="4500" spc="-175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- Naimiris: A Profit-Driven Smart Farming Model for Scotch Bonnet Peppers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7711" y="4361999"/>
            <a:ext cx="10019623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5"/>
              </a:lnSpc>
              <a:spcBef>
                <a:spcPct val="0"/>
              </a:spcBef>
            </a:pPr>
            <a:r>
              <a:rPr lang="en-US" b="true" sz="4500" spc="-175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ID</a:t>
            </a:r>
            <a:r>
              <a:rPr lang="en-US" sz="4500" spc="-175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- 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7711" y="5844089"/>
            <a:ext cx="10019623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5"/>
              </a:lnSpc>
              <a:spcBef>
                <a:spcPct val="0"/>
              </a:spcBef>
            </a:pPr>
            <a:r>
              <a:rPr lang="en-US" b="true" sz="4500" spc="-175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Supervisor </a:t>
            </a:r>
            <a:r>
              <a:rPr lang="en-US" sz="4500" spc="-175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-  Ms Sadeepa Dushanthi Kuruppu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7711" y="7949565"/>
            <a:ext cx="10019623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5"/>
              </a:lnSpc>
              <a:spcBef>
                <a:spcPct val="0"/>
              </a:spcBef>
            </a:pPr>
            <a:r>
              <a:rPr lang="en-US" b="true" sz="4500" spc="-175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Supervisor </a:t>
            </a:r>
            <a:r>
              <a:rPr lang="en-US" sz="4500" spc="-175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-  Ms Chathurangika Kahandawaarachchi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638191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9" y="0"/>
                </a:lnTo>
                <a:lnTo>
                  <a:pt x="2278159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279198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45541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0245" y="30988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37875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874918">
            <a:off x="15190124" y="-1211274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08100">
            <a:off x="-1875736" y="8269764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824847">
            <a:off x="13537927" y="14302"/>
            <a:ext cx="1345346" cy="705466"/>
          </a:xfrm>
          <a:custGeom>
            <a:avLst/>
            <a:gdLst/>
            <a:ahLst/>
            <a:cxnLst/>
            <a:rect r="r" b="b" t="t" l="l"/>
            <a:pathLst>
              <a:path h="705466" w="1345346">
                <a:moveTo>
                  <a:pt x="0" y="0"/>
                </a:moveTo>
                <a:lnTo>
                  <a:pt x="1345346" y="0"/>
                </a:lnTo>
                <a:lnTo>
                  <a:pt x="1345346" y="705466"/>
                </a:lnTo>
                <a:lnTo>
                  <a:pt x="0" y="7054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016741">
            <a:off x="16518155" y="7719910"/>
            <a:ext cx="1154270" cy="2089176"/>
          </a:xfrm>
          <a:custGeom>
            <a:avLst/>
            <a:gdLst/>
            <a:ahLst/>
            <a:cxnLst/>
            <a:rect r="r" b="b" t="t" l="l"/>
            <a:pathLst>
              <a:path h="2089176" w="1154270">
                <a:moveTo>
                  <a:pt x="0" y="0"/>
                </a:moveTo>
                <a:lnTo>
                  <a:pt x="1154270" y="0"/>
                </a:lnTo>
                <a:lnTo>
                  <a:pt x="1154270" y="2089176"/>
                </a:lnTo>
                <a:lnTo>
                  <a:pt x="0" y="2089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88765" y="568932"/>
            <a:ext cx="11322132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0554" y="2202940"/>
            <a:ext cx="15102594" cy="640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64"/>
              </a:lnSpc>
            </a:pPr>
            <a:r>
              <a:rPr lang="en-US" sz="4045" spc="-157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Agriculture is a key sector in Sri Lanka, but many small-scale farmers still use traditional methods which lead to low profit and high risk. </a:t>
            </a:r>
            <a:r>
              <a:rPr lang="en-US" b="true" sz="4045" spc="-157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  <a:r>
              <a:rPr lang="en-US" sz="4045" spc="-157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is a smart farming app designed for farmers with less than 1 acre of land who want to earn better income from farming. The system provides highly accurate, crop-focused guidance for Scotch Bonnet pepper farming, delivering insights and strategies that are more precise and practical than common farming advice. </a:t>
            </a:r>
            <a:r>
              <a:rPr lang="en-US" b="true" sz="4045" spc="-157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  <a:r>
              <a:rPr lang="en-US" sz="4045" spc="-157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helps farmers reduce risk, increase yield, and turn farming into a profitable business.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638191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9" y="0"/>
                </a:lnTo>
                <a:lnTo>
                  <a:pt x="2278159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79198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45541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73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8932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347" y="1493610"/>
            <a:ext cx="14335645" cy="93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7"/>
              </a:lnSpc>
              <a:spcBef>
                <a:spcPct val="0"/>
              </a:spcBef>
            </a:pPr>
            <a:r>
              <a:rPr lang="en-US" b="true" sz="63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WHO CAN BENEFIT FROM NAIMIRIS?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8299228">
            <a:off x="15668492" y="-2350514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0800" y="2972273"/>
            <a:ext cx="17737200" cy="553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35"/>
              </a:lnSpc>
            </a:pPr>
            <a:r>
              <a:rPr lang="en-US" b="true" sz="3084" spc="-12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Aspiring Agricultural Investors</a:t>
            </a:r>
          </a:p>
          <a:p>
            <a:pPr algn="just" marL="665955" indent="-332978" lvl="1">
              <a:lnSpc>
                <a:spcPts val="4935"/>
              </a:lnSpc>
              <a:buFont typeface="Arial"/>
              <a:buChar char="•"/>
            </a:pPr>
            <a:r>
              <a:rPr lang="en-US" sz="3084" spc="-12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Check land, cost, risks, and possible profit before investing.</a:t>
            </a:r>
          </a:p>
          <a:p>
            <a:pPr algn="just" marL="665955" indent="-332978" lvl="1">
              <a:lnSpc>
                <a:spcPts val="4935"/>
              </a:lnSpc>
              <a:buFont typeface="Arial"/>
              <a:buChar char="•"/>
            </a:pPr>
            <a:r>
              <a:rPr lang="en-US" sz="3084" spc="-12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Follow complete farming guidance from planting to harvesting.</a:t>
            </a:r>
          </a:p>
          <a:p>
            <a:pPr algn="just" marL="665955" indent="-332978" lvl="1">
              <a:lnSpc>
                <a:spcPts val="4935"/>
              </a:lnSpc>
              <a:buFont typeface="Arial"/>
              <a:buChar char="•"/>
            </a:pPr>
            <a:r>
              <a:rPr lang="en-US" sz="3084" spc="-12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Reduce losses through early pest and disease detection.</a:t>
            </a:r>
          </a:p>
          <a:p>
            <a:pPr algn="just">
              <a:lnSpc>
                <a:spcPts val="4935"/>
              </a:lnSpc>
            </a:pPr>
          </a:p>
          <a:p>
            <a:pPr algn="just">
              <a:lnSpc>
                <a:spcPts val="4935"/>
              </a:lnSpc>
            </a:pPr>
            <a:r>
              <a:rPr lang="en-US" b="true" sz="3084" spc="-12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Existing Farmers</a:t>
            </a:r>
          </a:p>
          <a:p>
            <a:pPr algn="just" marL="665955" indent="-332978" lvl="1">
              <a:lnSpc>
                <a:spcPts val="4935"/>
              </a:lnSpc>
              <a:buFont typeface="Arial"/>
              <a:buChar char="•"/>
            </a:pPr>
            <a:r>
              <a:rPr lang="en-US" sz="3084" spc="-12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Monitor crop growth and identify problems early.</a:t>
            </a:r>
          </a:p>
          <a:p>
            <a:pPr algn="just" marL="665955" indent="-332978" lvl="1">
              <a:lnSpc>
                <a:spcPts val="4935"/>
              </a:lnSpc>
              <a:buFont typeface="Arial"/>
              <a:buChar char="•"/>
            </a:pPr>
            <a:r>
              <a:rPr lang="en-US" sz="3084" spc="-12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Improve farming decisions using smart recommendations.</a:t>
            </a:r>
          </a:p>
          <a:p>
            <a:pPr algn="just" marL="665955" indent="-332978" lvl="1">
              <a:lnSpc>
                <a:spcPts val="4935"/>
              </a:lnSpc>
              <a:buFont typeface="Arial"/>
              <a:buChar char="•"/>
            </a:pPr>
            <a:r>
              <a:rPr lang="en-US" sz="3084" spc="-12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Increase crop yield and income.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5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7946" y="22483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3265" y="293701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3039">
            <a:off x="14888750" y="7381361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873294">
            <a:off x="15190124" y="-1737978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54090" y="2819861"/>
            <a:ext cx="7323765" cy="4647277"/>
          </a:xfrm>
          <a:custGeom>
            <a:avLst/>
            <a:gdLst/>
            <a:ahLst/>
            <a:cxnLst/>
            <a:rect r="r" b="b" t="t" l="l"/>
            <a:pathLst>
              <a:path h="4647277" w="7323765">
                <a:moveTo>
                  <a:pt x="0" y="0"/>
                </a:moveTo>
                <a:lnTo>
                  <a:pt x="7323765" y="0"/>
                </a:lnTo>
                <a:lnTo>
                  <a:pt x="7323765" y="4647278"/>
                </a:lnTo>
                <a:lnTo>
                  <a:pt x="0" y="4647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782" t="0" r="-678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8367" y="2362389"/>
            <a:ext cx="9714057" cy="792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55"/>
              </a:lnSpc>
            </a:pPr>
            <a:r>
              <a:rPr lang="en-US" b="true" sz="3324" spc="-129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Exi</a:t>
            </a:r>
            <a:r>
              <a:rPr lang="en-US" b="true" sz="3324" spc="-129" strike="noStrike" u="none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sting Problems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Traditional farming focuses on production, not profit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Low income for small-scale farmers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Lack of accurate farming guidance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Dependence on middlemen and poor market access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Small land sizes limit profitability</a:t>
            </a:r>
          </a:p>
          <a:p>
            <a:pPr algn="just" marL="0" indent="0" lvl="0">
              <a:lnSpc>
                <a:spcPts val="4187"/>
              </a:lnSpc>
            </a:pPr>
          </a:p>
          <a:p>
            <a:pPr algn="just" marL="0" indent="0" lvl="0">
              <a:lnSpc>
                <a:spcPts val="4455"/>
              </a:lnSpc>
            </a:pPr>
            <a:r>
              <a:rPr lang="en-US" b="true" sz="3324" spc="-129" strike="noStrike" u="none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This is Important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Farmers work hard but earn low profit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Farming becomes high risk and unstable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•Farmers cannot treat farming as a profitable business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Young people avoid agriculture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Need for a smart, profit-focused farming system</a:t>
            </a:r>
          </a:p>
          <a:p>
            <a:pPr algn="just" marL="0" indent="0" lvl="0">
              <a:lnSpc>
                <a:spcPts val="4187"/>
              </a:lnSpc>
            </a:pPr>
          </a:p>
          <a:p>
            <a:pPr algn="just" marL="0" indent="0" lvl="0">
              <a:lnSpc>
                <a:spcPts val="418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22007"/>
            <a:ext cx="8593392" cy="12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9"/>
              </a:lnSpc>
            </a:pPr>
            <a:r>
              <a:rPr lang="en-US" sz="7999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638191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9" y="0"/>
                </a:lnTo>
                <a:lnTo>
                  <a:pt x="2278159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79198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45541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1331" y="216582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3265" y="27373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8967" y="7639093"/>
            <a:ext cx="4179033" cy="4523987"/>
          </a:xfrm>
          <a:custGeom>
            <a:avLst/>
            <a:gdLst/>
            <a:ahLst/>
            <a:cxnLst/>
            <a:rect r="r" b="b" t="t" l="l"/>
            <a:pathLst>
              <a:path h="4523987" w="4179033">
                <a:moveTo>
                  <a:pt x="0" y="0"/>
                </a:moveTo>
                <a:lnTo>
                  <a:pt x="4179033" y="0"/>
                </a:lnTo>
                <a:lnTo>
                  <a:pt x="4179033" y="4523987"/>
                </a:lnTo>
                <a:lnTo>
                  <a:pt x="0" y="452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56363" y="2001315"/>
            <a:ext cx="13375275" cy="7899772"/>
          </a:xfrm>
          <a:custGeom>
            <a:avLst/>
            <a:gdLst/>
            <a:ahLst/>
            <a:cxnLst/>
            <a:rect r="r" b="b" t="t" l="l"/>
            <a:pathLst>
              <a:path h="7899772" w="13375275">
                <a:moveTo>
                  <a:pt x="0" y="0"/>
                </a:moveTo>
                <a:lnTo>
                  <a:pt x="13375274" y="0"/>
                </a:lnTo>
                <a:lnTo>
                  <a:pt x="13375274" y="7899772"/>
                </a:lnTo>
                <a:lnTo>
                  <a:pt x="0" y="789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54952" y="475629"/>
            <a:ext cx="11178095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315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1374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4892" y="7810236"/>
            <a:ext cx="4179033" cy="4523987"/>
          </a:xfrm>
          <a:custGeom>
            <a:avLst/>
            <a:gdLst/>
            <a:ahLst/>
            <a:cxnLst/>
            <a:rect r="r" b="b" t="t" l="l"/>
            <a:pathLst>
              <a:path h="4523987" w="4179033">
                <a:moveTo>
                  <a:pt x="0" y="0"/>
                </a:moveTo>
                <a:lnTo>
                  <a:pt x="4179033" y="0"/>
                </a:lnTo>
                <a:lnTo>
                  <a:pt x="4179033" y="4523987"/>
                </a:lnTo>
                <a:lnTo>
                  <a:pt x="0" y="452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02122" y="0"/>
            <a:ext cx="4585878" cy="5898284"/>
          </a:xfrm>
          <a:custGeom>
            <a:avLst/>
            <a:gdLst/>
            <a:ahLst/>
            <a:cxnLst/>
            <a:rect r="r" b="b" t="t" l="l"/>
            <a:pathLst>
              <a:path h="5898284" w="4585878">
                <a:moveTo>
                  <a:pt x="0" y="0"/>
                </a:moveTo>
                <a:lnTo>
                  <a:pt x="4585878" y="0"/>
                </a:lnTo>
                <a:lnTo>
                  <a:pt x="4585878" y="5898284"/>
                </a:lnTo>
                <a:lnTo>
                  <a:pt x="0" y="5898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4840" y="7357689"/>
            <a:ext cx="12891354" cy="11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IT22271464 - KUMARAGE K J B 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2114" y="3367550"/>
            <a:ext cx="14305201" cy="228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PRE-ANALYSIS &amp; SMART</a:t>
            </a:r>
          </a:p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SUPPORT STAGE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73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8932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8116" y="1998641"/>
            <a:ext cx="17031767" cy="650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8308" indent="-294154" lvl="1">
              <a:lnSpc>
                <a:spcPts val="6376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Starting Nai Miris farming without proper analysis</a:t>
            </a: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can cause financial loss and resource waste.</a:t>
            </a:r>
          </a:p>
          <a:p>
            <a:pPr algn="just" marL="588308" indent="-294154" lvl="1">
              <a:lnSpc>
                <a:spcPts val="6376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The system analyses satellite and ground images to identify usable land and required preparation work.</a:t>
            </a:r>
          </a:p>
          <a:p>
            <a:pPr algn="just" marL="588308" indent="-294154" lvl="1">
              <a:lnSpc>
                <a:spcPts val="6376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It combines image results with soil sensor data, weather, budget, labour, and equipment details.</a:t>
            </a:r>
          </a:p>
          <a:p>
            <a:pPr algn="just" marL="588308" indent="-294154" lvl="1">
              <a:lnSpc>
                <a:spcPts val="6376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It recommends the most suitable farming method: open field, greenhouse, or grow bags.</a:t>
            </a:r>
          </a:p>
          <a:p>
            <a:pPr algn="just" marL="588308" indent="-294154" lvl="1">
              <a:lnSpc>
                <a:spcPts val="6376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It provides plant count, estimated cost, expected profit, ROI, and a practical cultivation plan.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b="true" sz="3624" spc="-141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964"/>
              </a:lnSpc>
              <a:spcBef>
                <a:spcPct val="0"/>
              </a:spcBef>
            </a:pPr>
            <a:r>
              <a:rPr lang="en-US" sz="2720" spc="-106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•To help farmers and investors make low-risk and profitable decisions before starting Nai Miris cultivation.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72997" y="366165"/>
            <a:ext cx="8142006" cy="12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9"/>
              </a:lnSpc>
              <a:spcBef>
                <a:spcPct val="0"/>
              </a:spcBef>
            </a:pPr>
            <a:r>
              <a:rPr lang="en-US" b="true" sz="79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5728904" y="-2362168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5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0384" y="22483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38888" y="281985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3039">
            <a:off x="16266834" y="7186366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873294">
            <a:off x="15578580" y="-1737978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3" y="0"/>
                </a:lnTo>
                <a:lnTo>
                  <a:pt x="4138353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1910" y="1705497"/>
            <a:ext cx="15444181" cy="7722090"/>
          </a:xfrm>
          <a:custGeom>
            <a:avLst/>
            <a:gdLst/>
            <a:ahLst/>
            <a:cxnLst/>
            <a:rect r="r" b="b" t="t" l="l"/>
            <a:pathLst>
              <a:path h="7722090" w="15444181">
                <a:moveTo>
                  <a:pt x="0" y="0"/>
                </a:moveTo>
                <a:lnTo>
                  <a:pt x="15444180" y="0"/>
                </a:lnTo>
                <a:lnTo>
                  <a:pt x="15444180" y="7722091"/>
                </a:lnTo>
                <a:lnTo>
                  <a:pt x="0" y="77220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3660" y="505662"/>
            <a:ext cx="658068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499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6598" y="2510139"/>
            <a:ext cx="13392275" cy="54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b="true" sz="2824" spc="-11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1 – Satellite Image Analyzer</a:t>
            </a:r>
          </a:p>
          <a:p>
            <a:pPr algn="just" marL="609897" indent="-304948" lvl="1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Model: SegFormer-B2</a:t>
            </a:r>
          </a:p>
          <a:p>
            <a:pPr algn="just" marL="609897" indent="-304948" lvl="1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Type: PyTorch Semantic Segmentation</a:t>
            </a:r>
          </a:p>
          <a:p>
            <a:pPr algn="just" marL="609897" indent="-304948" lvl="1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Datasets: LoveDA and OpenEarthMap</a:t>
            </a:r>
          </a:p>
          <a:p>
            <a:pPr algn="just" marL="609897" indent="-304948" lvl="1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Detects eight land-cover classes</a:t>
            </a:r>
          </a:p>
          <a:p>
            <a:pPr algn="just" marL="609897" indent="-304948" lvl="1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Calculates growable area and provisional plant count</a:t>
            </a: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  <a:r>
              <a:rPr lang="en-US" b="true" sz="2824" spc="-11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2 – Ground Image Analyzer</a:t>
            </a:r>
          </a:p>
          <a:p>
            <a:pPr algn="just" marL="609897" indent="-304948" lvl="1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Model: SegFormer-B2</a:t>
            </a:r>
          </a:p>
          <a:p>
            <a:pPr algn="just" marL="609897" indent="-304948" lvl="1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Type: PyTorch Semantic Segmentation</a:t>
            </a:r>
          </a:p>
          <a:p>
            <a:pPr algn="just" marL="609897" indent="-304948" lvl="1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Detects grass, bushes, bare soil, trees, mud, water, debris and other areas</a:t>
            </a:r>
          </a:p>
          <a:p>
            <a:pPr algn="just" marL="609897" indent="-304948" lvl="1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Suggests preparation tasks, labour, equipment and cost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23570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858759" y="1443355"/>
            <a:ext cx="6761326" cy="5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1"/>
              </a:lnSpc>
              <a:spcBef>
                <a:spcPct val="0"/>
              </a:spcBef>
            </a:pPr>
            <a:r>
              <a:rPr lang="en-US" b="true" sz="3377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AI IMAGE</a:t>
            </a:r>
            <a:r>
              <a:rPr lang="en-US" b="true" sz="3377" strike="noStrike" u="non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 ANALYZERS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1586" y="2550168"/>
            <a:ext cx="11828429" cy="400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6560" indent="-308280" lvl="1">
              <a:lnSpc>
                <a:spcPts val="5368"/>
              </a:lnSpc>
              <a:buFont typeface="Arial"/>
              <a:buChar char="•"/>
            </a:pPr>
            <a:r>
              <a:rPr lang="en-US" sz="2855" spc="-11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Developed a saved step-by-step farmer workflow</a:t>
            </a:r>
          </a:p>
          <a:p>
            <a:pPr algn="just" marL="616560" indent="-308280" lvl="1">
              <a:lnSpc>
                <a:spcPts val="5368"/>
              </a:lnSpc>
              <a:buFont typeface="Arial"/>
              <a:buChar char="•"/>
            </a:pPr>
            <a:r>
              <a:rPr lang="en-US" sz="2855" spc="-11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Added Soil Analyzer data:  EC, moisture and temperature</a:t>
            </a:r>
          </a:p>
          <a:p>
            <a:pPr algn="just" marL="616560" indent="-308280" lvl="1">
              <a:lnSpc>
                <a:spcPts val="5368"/>
              </a:lnSpc>
              <a:buFont typeface="Arial"/>
              <a:buChar char="•"/>
            </a:pPr>
            <a:r>
              <a:rPr lang="en-US" sz="2855" spc="-11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Added FAO suitability classes: S1, S2, S3, N1 and N2</a:t>
            </a:r>
          </a:p>
          <a:p>
            <a:pPr algn="just" marL="616560" indent="-308280" lvl="1">
              <a:lnSpc>
                <a:spcPts val="5368"/>
              </a:lnSpc>
              <a:buFont typeface="Arial"/>
              <a:buChar char="•"/>
            </a:pPr>
            <a:r>
              <a:rPr lang="en-US" sz="2855" spc="-11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Analyzes budget, labour, equipment and water availability</a:t>
            </a:r>
          </a:p>
          <a:p>
            <a:pPr algn="just" marL="616560" indent="-308280" lvl="1">
              <a:lnSpc>
                <a:spcPts val="5368"/>
              </a:lnSpc>
              <a:buFont typeface="Arial"/>
              <a:buChar char="•"/>
            </a:pPr>
            <a:r>
              <a:rPr lang="en-US" sz="2855" spc="-11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Calculates cost, revenue, profit, ROI range and financial risk</a:t>
            </a:r>
          </a:p>
          <a:p>
            <a:pPr algn="just" marL="616560" indent="-308280" lvl="1">
              <a:lnSpc>
                <a:spcPts val="5368"/>
              </a:lnSpc>
              <a:buFont typeface="Arial"/>
              <a:buChar char="•"/>
            </a:pPr>
            <a:r>
              <a:rPr lang="en-US" sz="2855" spc="-11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Generates the final farming recommendation and PDF report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23570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1443355"/>
            <a:ext cx="5991733" cy="5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1"/>
              </a:lnSpc>
              <a:spcBef>
                <a:spcPct val="0"/>
              </a:spcBef>
            </a:pPr>
            <a:r>
              <a:rPr lang="en-US" b="true" sz="3377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DECISIO</a:t>
            </a:r>
            <a:r>
              <a:rPr lang="en-US" b="true" sz="3377" strike="noStrike" u="non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N SUPPORT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58447">
            <a:off x="-2069176" y="7184642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9"/>
                </a:lnTo>
                <a:lnTo>
                  <a:pt x="0" y="44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53283" y="3084418"/>
            <a:ext cx="12693215" cy="271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9897" indent="-304948" lvl="1">
              <a:lnSpc>
                <a:spcPts val="564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Conduct real-world testing in Sri Lankan Nai Miris farms</a:t>
            </a:r>
          </a:p>
          <a:p>
            <a:pPr algn="just" marL="609897" indent="-304948" lvl="1">
              <a:lnSpc>
                <a:spcPts val="564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Collect feedback from farmers and agricultural experts</a:t>
            </a:r>
          </a:p>
          <a:p>
            <a:pPr algn="just" marL="609897" indent="-304948" lvl="1">
              <a:lnSpc>
                <a:spcPts val="564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Complete integration and test the full system end-to-end</a:t>
            </a:r>
          </a:p>
          <a:p>
            <a:pPr algn="just" marL="0" indent="0" lvl="0">
              <a:lnSpc>
                <a:spcPts val="45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626350" y="2480740"/>
            <a:ext cx="7006931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5"/>
              </a:lnSpc>
              <a:spcBef>
                <a:spcPct val="0"/>
              </a:spcBef>
            </a:pPr>
            <a:r>
              <a:rPr lang="en-US" b="true" sz="35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NEX</a:t>
            </a:r>
            <a:r>
              <a:rPr lang="en-US" b="true" sz="3500" strike="noStrike" u="non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T STEPS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315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1374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4892" y="7810236"/>
            <a:ext cx="4179033" cy="4523987"/>
          </a:xfrm>
          <a:custGeom>
            <a:avLst/>
            <a:gdLst/>
            <a:ahLst/>
            <a:cxnLst/>
            <a:rect r="r" b="b" t="t" l="l"/>
            <a:pathLst>
              <a:path h="4523987" w="4179033">
                <a:moveTo>
                  <a:pt x="0" y="0"/>
                </a:moveTo>
                <a:lnTo>
                  <a:pt x="4179033" y="0"/>
                </a:lnTo>
                <a:lnTo>
                  <a:pt x="4179033" y="4523987"/>
                </a:lnTo>
                <a:lnTo>
                  <a:pt x="0" y="452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79450" y="0"/>
            <a:ext cx="5814959" cy="6773245"/>
          </a:xfrm>
          <a:custGeom>
            <a:avLst/>
            <a:gdLst/>
            <a:ahLst/>
            <a:cxnLst/>
            <a:rect r="r" b="b" t="t" l="l"/>
            <a:pathLst>
              <a:path h="6773245" w="5814959">
                <a:moveTo>
                  <a:pt x="0" y="0"/>
                </a:moveTo>
                <a:lnTo>
                  <a:pt x="5814958" y="0"/>
                </a:lnTo>
                <a:lnTo>
                  <a:pt x="5814958" y="6773245"/>
                </a:lnTo>
                <a:lnTo>
                  <a:pt x="0" y="6773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689" r="0" b="-574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796" y="7143806"/>
            <a:ext cx="12891354" cy="11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IT22124630 - SAVINDA R.MD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796" y="1638996"/>
            <a:ext cx="14305201" cy="568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</a:p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ECHNOLOGY-ASSISTED </a:t>
            </a:r>
          </a:p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A-TO-Z FARMING GUIDANCE STAGE </a:t>
            </a:r>
          </a:p>
          <a:p>
            <a:pPr algn="l">
              <a:lnSpc>
                <a:spcPts val="896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IT22124630 SAVINDA R M D  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73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8932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5061" y="1692182"/>
            <a:ext cx="17057878" cy="892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Agricultu</a:t>
            </a:r>
            <a:r>
              <a:rPr lang="en-US" sz="3624" spc="-141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re still relies on manual crop monitoring, making it difficult for farmers to detect growth and environmental problems early.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Modern technologies such as the Internet of Things (IoT) and Artificial Intelligence (AI) provide new opportunities for smart farming.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This research develops a technology-assisted farming guidance system for Scotch Bonnet pepper (Nai Miris) cultivation by integrating IoT environmental sensors with AI-based image analysis. 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By analyzing weekly crop images and real-time sensor data, the system identifies growth conditions and provides recommendations such as irrigation or fertilizer adjustments to improve crop productivity.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b="true" sz="3624" spc="-141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sz="3624" spc="-14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To develop an AI- and IoT-based smart farming system that monitors crop growth stages and environmental conditions to provide technology-assisted cultivation guidance for Nai Miris farming.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866285" y="197857"/>
            <a:ext cx="8142006" cy="12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9"/>
              </a:lnSpc>
              <a:spcBef>
                <a:spcPct val="0"/>
              </a:spcBef>
            </a:pPr>
            <a:r>
              <a:rPr lang="en-US" b="true" sz="79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5728904" y="-2362168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5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0384" y="22483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38888" y="281985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3039">
            <a:off x="16266834" y="7186366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873294">
            <a:off x="15578580" y="-1737978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3" y="0"/>
                </a:lnTo>
                <a:lnTo>
                  <a:pt x="4138353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7794" y="1325447"/>
            <a:ext cx="13854088" cy="8038390"/>
          </a:xfrm>
          <a:custGeom>
            <a:avLst/>
            <a:gdLst/>
            <a:ahLst/>
            <a:cxnLst/>
            <a:rect r="r" b="b" t="t" l="l"/>
            <a:pathLst>
              <a:path h="8038390" w="13854088">
                <a:moveTo>
                  <a:pt x="0" y="0"/>
                </a:moveTo>
                <a:lnTo>
                  <a:pt x="13854088" y="0"/>
                </a:lnTo>
                <a:lnTo>
                  <a:pt x="13854088" y="8038390"/>
                </a:lnTo>
                <a:lnTo>
                  <a:pt x="0" y="80383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3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3660" y="505662"/>
            <a:ext cx="658068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499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IT22124630 SAVINDA R M D  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58447">
            <a:off x="14353999" y="7567663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9"/>
                </a:lnTo>
                <a:lnTo>
                  <a:pt x="0" y="44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6190" y="2340337"/>
            <a:ext cx="16423110" cy="634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9897" indent="-304948" lvl="1">
              <a:lnSpc>
                <a:spcPts val="5706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Implemented the complete five-stage growth-monitoring workflow</a:t>
            </a:r>
          </a:p>
          <a:p>
            <a:pPr algn="just" marL="609897" indent="-304948" lvl="1">
              <a:lnSpc>
                <a:spcPts val="5706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Connected IoT sensors using ESP32</a:t>
            </a:r>
          </a:p>
          <a:p>
            <a:pPr algn="just" marL="609897" indent="-304948" lvl="1">
              <a:lnSpc>
                <a:spcPts val="5706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Collects temperature, humidity, soil moisture, soil temperature and EC</a:t>
            </a:r>
          </a:p>
          <a:p>
            <a:pPr algn="just" marL="609897" indent="-304948" lvl="1">
              <a:lnSpc>
                <a:spcPts val="5706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Sends real-time sensor data to Firebase</a:t>
            </a:r>
          </a:p>
          <a:p>
            <a:pPr algn="just" marL="609897" indent="-304948" lvl="1">
              <a:lnSpc>
                <a:spcPts val="5706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Implemented stage-based condition analysis</a:t>
            </a:r>
          </a:p>
          <a:p>
            <a:pPr algn="just" marL="609897" indent="-304948" lvl="1">
              <a:lnSpc>
                <a:spcPts val="5706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Generates environmental alerts and farming recommendations</a:t>
            </a:r>
          </a:p>
          <a:p>
            <a:pPr algn="just" marL="609897" indent="-304948" lvl="1">
              <a:lnSpc>
                <a:spcPts val="5706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Developed a dashboard for readings, growth status and notifications</a:t>
            </a: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3801" y="1516599"/>
            <a:ext cx="7006931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4"/>
              </a:lnSpc>
              <a:spcBef>
                <a:spcPct val="0"/>
              </a:spcBef>
            </a:pPr>
            <a:r>
              <a:rPr lang="en-US" b="true" sz="36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IOT GROWTH MONITORING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58447">
            <a:off x="14353999" y="7567663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9"/>
                </a:lnTo>
                <a:lnTo>
                  <a:pt x="0" y="44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2445" y="1786561"/>
            <a:ext cx="16423110" cy="754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6"/>
              </a:lnSpc>
            </a:pPr>
            <a:r>
              <a:rPr lang="en-US" b="true" sz="2324" spc="-9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Seedling Emergence Stage</a:t>
            </a:r>
          </a:p>
          <a:p>
            <a:pPr algn="just" marL="501950" indent="-250975" lvl="1">
              <a:lnSpc>
                <a:spcPts val="4696"/>
              </a:lnSpc>
              <a:buFont typeface="Arial"/>
              <a:buChar char="•"/>
            </a:pP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Implemented YOLOv8n Object Detection</a:t>
            </a:r>
          </a:p>
          <a:p>
            <a:pPr algn="just" marL="501950" indent="-250975" lvl="1">
              <a:lnSpc>
                <a:spcPts val="4696"/>
              </a:lnSpc>
              <a:buFont typeface="Arial"/>
              <a:buChar char="•"/>
            </a:pP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Detects emerged seedlings and provides count, location and confidence</a:t>
            </a:r>
          </a:p>
          <a:p>
            <a:pPr algn="just">
              <a:lnSpc>
                <a:spcPts val="4696"/>
              </a:lnSpc>
            </a:pPr>
            <a:r>
              <a:rPr lang="en-US" b="true" sz="2324" spc="-9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Flowering Stage</a:t>
            </a:r>
          </a:p>
          <a:p>
            <a:pPr algn="just" marL="501950" indent="-250975" lvl="1">
              <a:lnSpc>
                <a:spcPts val="4696"/>
              </a:lnSpc>
              <a:buFont typeface="Arial"/>
              <a:buChar char="•"/>
            </a:pP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Impleme</a:t>
            </a: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nted a YOLO-based Object Detection model</a:t>
            </a:r>
          </a:p>
          <a:p>
            <a:pPr algn="just" marL="501950" indent="-250975" lvl="1">
              <a:lnSpc>
                <a:spcPts val="4696"/>
              </a:lnSpc>
              <a:buFont typeface="Arial"/>
              <a:buChar char="•"/>
            </a:pP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Detects visible flowers and young fruits</a:t>
            </a:r>
          </a:p>
          <a:p>
            <a:pPr algn="just" marL="501950" indent="-250975" lvl="1">
              <a:lnSpc>
                <a:spcPts val="4696"/>
              </a:lnSpc>
              <a:buFont typeface="Arial"/>
              <a:buChar char="•"/>
            </a:pP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Provides count, location and confidence</a:t>
            </a:r>
          </a:p>
          <a:p>
            <a:pPr algn="just">
              <a:lnSpc>
                <a:spcPts val="4696"/>
              </a:lnSpc>
            </a:pPr>
            <a:r>
              <a:rPr lang="en-US" b="true" sz="2324" spc="-9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Fruiting &amp; Ripening Stage</a:t>
            </a:r>
          </a:p>
          <a:p>
            <a:pPr algn="just" marL="501950" indent="-250975" lvl="1">
              <a:lnSpc>
                <a:spcPts val="4696"/>
              </a:lnSpc>
              <a:buFont typeface="Arial"/>
              <a:buChar char="•"/>
            </a:pP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Implemented YOLO11s Object Detection</a:t>
            </a:r>
          </a:p>
          <a:p>
            <a:pPr algn="just" marL="501950" indent="-250975" lvl="1">
              <a:lnSpc>
                <a:spcPts val="4696"/>
              </a:lnSpc>
              <a:buFont typeface="Arial"/>
              <a:buChar char="•"/>
            </a:pP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etects unripe and ripening fruits</a:t>
            </a:r>
          </a:p>
          <a:p>
            <a:pPr algn="just" marL="501950" indent="-250975" lvl="1">
              <a:lnSpc>
                <a:spcPts val="4696"/>
              </a:lnSpc>
              <a:buFont typeface="Arial"/>
              <a:buChar char="•"/>
            </a:pP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Calculates total fruit count and ripening percentage</a:t>
            </a:r>
          </a:p>
          <a:p>
            <a:pPr algn="just" marL="501950" indent="-250975" lvl="1">
              <a:lnSpc>
                <a:spcPts val="4696"/>
              </a:lnSpc>
              <a:spcBef>
                <a:spcPct val="0"/>
              </a:spcBef>
              <a:buFont typeface="Arial"/>
              <a:buChar char="•"/>
            </a:pPr>
            <a:r>
              <a:rPr lang="en-US" sz="2324" spc="-9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Approximately 9.4 million parameters and 21.4 GFLOPs</a:t>
            </a: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4744" y="1264250"/>
            <a:ext cx="5838343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4"/>
              </a:lnSpc>
              <a:spcBef>
                <a:spcPct val="0"/>
              </a:spcBef>
            </a:pPr>
            <a:r>
              <a:rPr lang="en-US" b="true" sz="36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AI IMAGE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58447">
            <a:off x="-2069176" y="7184642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9"/>
                </a:lnTo>
                <a:lnTo>
                  <a:pt x="0" y="44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53283" y="3084418"/>
            <a:ext cx="12693215" cy="271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9897" indent="-304948" lvl="1">
              <a:lnSpc>
                <a:spcPts val="564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Conduct real-world testing in Sri Lankan Nai Miris farms</a:t>
            </a:r>
          </a:p>
          <a:p>
            <a:pPr algn="just" marL="609897" indent="-304948" lvl="1">
              <a:lnSpc>
                <a:spcPts val="564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Collect feedback from farmers and agricultural experts</a:t>
            </a:r>
          </a:p>
          <a:p>
            <a:pPr algn="just" marL="609897" indent="-304948" lvl="1">
              <a:lnSpc>
                <a:spcPts val="564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Complete integration and test the full system end-to-end</a:t>
            </a:r>
          </a:p>
          <a:p>
            <a:pPr algn="just" marL="0" indent="0" lvl="0">
              <a:lnSpc>
                <a:spcPts val="45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626350" y="2480740"/>
            <a:ext cx="7006931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5"/>
              </a:lnSpc>
              <a:spcBef>
                <a:spcPct val="0"/>
              </a:spcBef>
            </a:pPr>
            <a:r>
              <a:rPr lang="en-US" b="true" sz="35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NEX</a:t>
            </a:r>
            <a:r>
              <a:rPr lang="en-US" b="true" sz="3500" strike="noStrike" u="non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T STEPS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315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1374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4892" y="7810236"/>
            <a:ext cx="4179033" cy="4523987"/>
          </a:xfrm>
          <a:custGeom>
            <a:avLst/>
            <a:gdLst/>
            <a:ahLst/>
            <a:cxnLst/>
            <a:rect r="r" b="b" t="t" l="l"/>
            <a:pathLst>
              <a:path h="4523987" w="4179033">
                <a:moveTo>
                  <a:pt x="0" y="0"/>
                </a:moveTo>
                <a:lnTo>
                  <a:pt x="4179033" y="0"/>
                </a:lnTo>
                <a:lnTo>
                  <a:pt x="4179033" y="4523987"/>
                </a:lnTo>
                <a:lnTo>
                  <a:pt x="0" y="452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33369" y="0"/>
            <a:ext cx="5554631" cy="6839326"/>
          </a:xfrm>
          <a:custGeom>
            <a:avLst/>
            <a:gdLst/>
            <a:ahLst/>
            <a:cxnLst/>
            <a:rect r="r" b="b" t="t" l="l"/>
            <a:pathLst>
              <a:path h="6839326" w="5554631">
                <a:moveTo>
                  <a:pt x="0" y="0"/>
                </a:moveTo>
                <a:lnTo>
                  <a:pt x="5554631" y="0"/>
                </a:lnTo>
                <a:lnTo>
                  <a:pt x="5554631" y="6839326"/>
                </a:lnTo>
                <a:lnTo>
                  <a:pt x="0" y="68393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889" r="-1856" b="-32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923" y="3389967"/>
            <a:ext cx="12891354" cy="228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AI-DRIVEN PEST MONITORING AND CONTROL SYSTEM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923" y="6658351"/>
            <a:ext cx="14305201" cy="11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0B5304"/>
                </a:solidFill>
                <a:latin typeface="Poppins"/>
                <a:ea typeface="Poppins"/>
                <a:cs typeface="Poppins"/>
                <a:sym typeface="Poppins"/>
              </a:rPr>
              <a:t>IT22212740 - GUNAWARDANA T.D.A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IT22212740 GUNAWARDANA T D A  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73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8932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5061" y="1692182"/>
            <a:ext cx="17057878" cy="744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Pest attacks are a major challenge in Scotch Bonnet pepper (Nai Miris) cultivation in the Sri Lankan wet zone. 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Traditional monitoring is manual and often delayed, causing crop loss.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This research proposes an AI-based pest monitoring system that detects pests from leaf images, assesses severity, provides accurate pesticide recommendations, and reduces chemical overuse.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It helps farmers make timely, data-driven decisions and improve yield.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b="true" sz="3624" spc="-141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sz="3624" spc="-14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Develop an AI-based pest monitoring system for Scotch Bonnet pepper (Nai Miris) that detects pests, evaluates infestation severity, and provides precise treatment recommendations.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866285" y="197857"/>
            <a:ext cx="8142006" cy="12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9"/>
              </a:lnSpc>
              <a:spcBef>
                <a:spcPct val="0"/>
              </a:spcBef>
            </a:pPr>
            <a:r>
              <a:rPr lang="en-US" b="true" sz="79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5728904" y="-2362168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IT22212740 GUNAWARDANA T D A  R26-IT-103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5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0384" y="22483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38888" y="281985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3039">
            <a:off x="16266834" y="7186366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873294">
            <a:off x="15578580" y="-1737978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3" y="0"/>
                </a:lnTo>
                <a:lnTo>
                  <a:pt x="4138353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855" y="1687621"/>
            <a:ext cx="14866290" cy="7154402"/>
          </a:xfrm>
          <a:custGeom>
            <a:avLst/>
            <a:gdLst/>
            <a:ahLst/>
            <a:cxnLst/>
            <a:rect r="r" b="b" t="t" l="l"/>
            <a:pathLst>
              <a:path h="7154402" w="14866290">
                <a:moveTo>
                  <a:pt x="0" y="0"/>
                </a:moveTo>
                <a:lnTo>
                  <a:pt x="14866290" y="0"/>
                </a:lnTo>
                <a:lnTo>
                  <a:pt x="14866290" y="7154402"/>
                </a:lnTo>
                <a:lnTo>
                  <a:pt x="0" y="71544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3660" y="505662"/>
            <a:ext cx="658068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499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IT22212740 GUNAWARDANA T D A  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4744" y="1549611"/>
            <a:ext cx="16423110" cy="7449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9"/>
              </a:lnSpc>
            </a:pPr>
            <a:r>
              <a:rPr lang="en-US" b="true" sz="2824" spc="-11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Details</a:t>
            </a:r>
          </a:p>
          <a:p>
            <a:pPr algn="just" marL="609897" indent="-304948" lvl="1">
              <a:lnSpc>
                <a:spcPts val="420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Model: efficientnetb0 Image Classification</a:t>
            </a:r>
          </a:p>
          <a:p>
            <a:pPr algn="just" marL="609897" indent="-304948" lvl="1">
              <a:lnSpc>
                <a:spcPts val="420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rained using healthy and infected leaf images</a:t>
            </a:r>
          </a:p>
          <a:p>
            <a:pPr algn="just" marL="609897" indent="-304948" lvl="1">
              <a:lnSpc>
                <a:spcPts val="420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dentifies the pest or disease category from a leaf image</a:t>
            </a:r>
          </a:p>
          <a:p>
            <a:pPr algn="just" marL="609897" indent="-304948" lvl="1">
              <a:lnSpc>
                <a:spcPts val="420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Prov</a:t>
            </a: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ides a confidence score for each prediction</a:t>
            </a:r>
          </a:p>
          <a:p>
            <a:pPr algn="just">
              <a:lnSpc>
                <a:spcPts val="4209"/>
              </a:lnSpc>
            </a:pPr>
          </a:p>
          <a:p>
            <a:pPr algn="just">
              <a:lnSpc>
                <a:spcPts val="4209"/>
              </a:lnSpc>
            </a:pPr>
            <a:r>
              <a:rPr lang="en-US" b="true" sz="2824" spc="-11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Current Function</a:t>
            </a:r>
          </a:p>
          <a:p>
            <a:pPr algn="just" marL="609897" indent="-304948" lvl="1">
              <a:lnSpc>
                <a:spcPts val="420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User can upload or capture a Nai Miris leaf image</a:t>
            </a:r>
          </a:p>
          <a:p>
            <a:pPr algn="just" marL="609897" indent="-304948" lvl="1">
              <a:lnSpc>
                <a:spcPts val="420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Backend processes the image using the trained model</a:t>
            </a:r>
          </a:p>
          <a:p>
            <a:pPr algn="just" marL="609897" indent="-304948" lvl="1">
              <a:lnSpc>
                <a:spcPts val="420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Displays the original image, detected class and confidence</a:t>
            </a:r>
          </a:p>
          <a:p>
            <a:pPr algn="just" marL="609897" indent="-304948" lvl="1">
              <a:lnSpc>
                <a:spcPts val="420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Prediction flow is connected with the mobile application</a:t>
            </a:r>
          </a:p>
          <a:p>
            <a:pPr algn="just" marL="609897" indent="-304948" lvl="1">
              <a:lnSpc>
                <a:spcPts val="420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Treatment recommendation logic is currently being integrated</a:t>
            </a:r>
          </a:p>
          <a:p>
            <a:pPr algn="just">
              <a:lnSpc>
                <a:spcPts val="4209"/>
              </a:lnSpc>
            </a:pPr>
          </a:p>
          <a:p>
            <a:pPr algn="just" marL="0" indent="0" lvl="0">
              <a:lnSpc>
                <a:spcPts val="420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58447">
            <a:off x="-2069176" y="7184642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9"/>
                </a:lnTo>
                <a:lnTo>
                  <a:pt x="0" y="44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53283" y="3084418"/>
            <a:ext cx="12693215" cy="271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9897" indent="-304948" lvl="1">
              <a:lnSpc>
                <a:spcPts val="564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Conduct real-world testing in Sri Lankan Nai Miris farms</a:t>
            </a:r>
          </a:p>
          <a:p>
            <a:pPr algn="just" marL="609897" indent="-304948" lvl="1">
              <a:lnSpc>
                <a:spcPts val="564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Collect feedback from farmers and agricultural experts</a:t>
            </a:r>
          </a:p>
          <a:p>
            <a:pPr algn="just" marL="609897" indent="-304948" lvl="1">
              <a:lnSpc>
                <a:spcPts val="564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Complete integration and test the full system end-to-end</a:t>
            </a:r>
          </a:p>
          <a:p>
            <a:pPr algn="just" marL="0" indent="0" lvl="0">
              <a:lnSpc>
                <a:spcPts val="45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626350" y="2480740"/>
            <a:ext cx="7006931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5"/>
              </a:lnSpc>
              <a:spcBef>
                <a:spcPct val="0"/>
              </a:spcBef>
            </a:pPr>
            <a:r>
              <a:rPr lang="en-US" b="true" sz="35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NEX</a:t>
            </a:r>
            <a:r>
              <a:rPr lang="en-US" b="true" sz="3500" strike="noStrike" u="non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T STEPS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1331" y="216582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3265" y="27373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81483" y="1534001"/>
            <a:ext cx="8925034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COMMERCIALIZATION PLAN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55949"/>
            <a:ext cx="16423110" cy="3004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58"/>
              </a:lnSpc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The Smart</a:t>
            </a: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Farming Decision Support System will be offered as a subscription-based platform for farmers and agricultural businesses. Users can access AI-powered farming recommendations, monitoring, and analysis through monthly or yearly plans. The system can also integrate with IoT sensors to collect real-time farming data and improve decision-making. Revenue will be generated through subscriptions, premium services, and agricultural partnerships.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2927" y="31681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70885" y="373960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38417">
            <a:off x="-3489788" y="6155911"/>
            <a:ext cx="5731664" cy="6204778"/>
          </a:xfrm>
          <a:custGeom>
            <a:avLst/>
            <a:gdLst/>
            <a:ahLst/>
            <a:cxnLst/>
            <a:rect r="r" b="b" t="t" l="l"/>
            <a:pathLst>
              <a:path h="6204778" w="5731664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968874">
            <a:off x="14735822" y="714609"/>
            <a:ext cx="2143915" cy="1124216"/>
          </a:xfrm>
          <a:custGeom>
            <a:avLst/>
            <a:gdLst/>
            <a:ahLst/>
            <a:cxnLst/>
            <a:rect r="r" b="b" t="t" l="l"/>
            <a:pathLst>
              <a:path h="1124216" w="2143915">
                <a:moveTo>
                  <a:pt x="0" y="0"/>
                </a:moveTo>
                <a:lnTo>
                  <a:pt x="2143915" y="0"/>
                </a:lnTo>
                <a:lnTo>
                  <a:pt x="2143915" y="1124216"/>
                </a:lnTo>
                <a:lnTo>
                  <a:pt x="0" y="1124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47340" y="438106"/>
            <a:ext cx="1094662" cy="2178431"/>
          </a:xfrm>
          <a:custGeom>
            <a:avLst/>
            <a:gdLst/>
            <a:ahLst/>
            <a:cxnLst/>
            <a:rect r="r" b="b" t="t" l="l"/>
            <a:pathLst>
              <a:path h="2178431" w="1094662">
                <a:moveTo>
                  <a:pt x="0" y="0"/>
                </a:moveTo>
                <a:lnTo>
                  <a:pt x="1094662" y="0"/>
                </a:lnTo>
                <a:lnTo>
                  <a:pt x="1094662" y="2178431"/>
                </a:lnTo>
                <a:lnTo>
                  <a:pt x="0" y="21784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8191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9" y="0"/>
                </a:lnTo>
                <a:lnTo>
                  <a:pt x="2278159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67396" y="1805602"/>
            <a:ext cx="11827872" cy="7452698"/>
          </a:xfrm>
          <a:custGeom>
            <a:avLst/>
            <a:gdLst/>
            <a:ahLst/>
            <a:cxnLst/>
            <a:rect r="r" b="b" t="t" l="l"/>
            <a:pathLst>
              <a:path h="7452698" w="11827872">
                <a:moveTo>
                  <a:pt x="0" y="0"/>
                </a:moveTo>
                <a:lnTo>
                  <a:pt x="11827872" y="0"/>
                </a:lnTo>
                <a:lnTo>
                  <a:pt x="11827872" y="7452698"/>
                </a:lnTo>
                <a:lnTo>
                  <a:pt x="0" y="74526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9" t="-6221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0291" y="543071"/>
            <a:ext cx="1156741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WORK BREAKDOWN 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79198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45541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37" r="0" b="-161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04227" y="4237576"/>
            <a:ext cx="13679546" cy="224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2"/>
              </a:lnSpc>
            </a:pPr>
            <a:r>
              <a:rPr lang="en-US" b="true" sz="14873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511338">
            <a:off x="-1350763" y="6881922"/>
            <a:ext cx="5726213" cy="4752757"/>
          </a:xfrm>
          <a:custGeom>
            <a:avLst/>
            <a:gdLst/>
            <a:ahLst/>
            <a:cxnLst/>
            <a:rect r="r" b="b" t="t" l="l"/>
            <a:pathLst>
              <a:path h="4752757" w="5726213">
                <a:moveTo>
                  <a:pt x="0" y="0"/>
                </a:moveTo>
                <a:lnTo>
                  <a:pt x="5726213" y="0"/>
                </a:lnTo>
                <a:lnTo>
                  <a:pt x="5726213" y="4752756"/>
                </a:lnTo>
                <a:lnTo>
                  <a:pt x="0" y="4752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72651">
            <a:off x="14370900" y="-1285019"/>
            <a:ext cx="5226996" cy="5759775"/>
          </a:xfrm>
          <a:custGeom>
            <a:avLst/>
            <a:gdLst/>
            <a:ahLst/>
            <a:cxnLst/>
            <a:rect r="r" b="b" t="t" l="l"/>
            <a:pathLst>
              <a:path h="5759775" w="5226996">
                <a:moveTo>
                  <a:pt x="0" y="0"/>
                </a:moveTo>
                <a:lnTo>
                  <a:pt x="5226996" y="0"/>
                </a:lnTo>
                <a:lnTo>
                  <a:pt x="5226996" y="5759776"/>
                </a:lnTo>
                <a:lnTo>
                  <a:pt x="0" y="5759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3" ma:contentTypeDescription="Create a new document." ma:contentTypeScope="" ma:versionID="ed8957265f396ef1a05f01d558c99f69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1597c9238c56ccca7c2d5e0a413be07c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6BAC905-C5B0-4916-A00F-E8B80AC95E9B}"/>
</file>

<file path=customXml/itemProps2.xml><?xml version="1.0" encoding="utf-8"?>
<ds:datastoreItem xmlns:ds="http://schemas.openxmlformats.org/officeDocument/2006/customXml" ds:itemID="{28A3C04C-2150-4D52-B4AE-F256C245C7EC}"/>
</file>

<file path=customXml/itemProps3.xml><?xml version="1.0" encoding="utf-8"?>
<ds:datastoreItem xmlns:ds="http://schemas.openxmlformats.org/officeDocument/2006/customXml" ds:itemID="{E694E6DD-4EC4-4CC2-B7F9-4F6F1DB3BA3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pp2</dc:title>
  <cp:revision>1</cp:revision>
  <dcterms:created xsi:type="dcterms:W3CDTF">2006-08-16T00:00:00Z</dcterms:created>
  <dcterms:modified xsi:type="dcterms:W3CDTF">2011-08-01T06:04:30Z</dcterms:modified>
  <dc:identifier>DAHTxISYd5o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